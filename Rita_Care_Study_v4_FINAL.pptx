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370012" y="577453"/>
            <a:ext cx="7315201" cy="12513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5103812" y="1828800"/>
            <a:ext cx="3581401" cy="3314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294578" y="4643111"/>
            <a:ext cx="258623" cy="248304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5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" name="Shape 2"/>
          <p:cNvSpPr/>
          <p:nvPr/>
        </p:nvSpPr>
        <p:spPr>
          <a:xfrm>
            <a:off x="0" y="4910328"/>
            <a:ext cx="9144000" cy="228602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" name="Text 3"/>
          <p:cNvSpPr txBox="1"/>
          <p:nvPr/>
        </p:nvSpPr>
        <p:spPr>
          <a:xfrm>
            <a:off x="457200" y="515970"/>
            <a:ext cx="8229600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7EA8D4"/>
                </a:solidFill>
              </a:defRPr>
            </a:lvl1pPr>
          </a:lstStyle>
          <a:p>
            <a:pPr/>
            <a:r>
              <a:t>A NURSING CARE STUDY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457200" y="920357"/>
            <a:ext cx="8229600" cy="765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</a:defRPr>
            </a:pPr>
            <a:r>
              <a:t>OF A PATIENT WITH UTERINE FIBROIDS</a:t>
            </a:r>
          </a:p>
          <a:p>
            <a:pPr algn="ctr">
              <a:defRPr b="1" sz="2600">
                <a:solidFill>
                  <a:srgbClr val="FFFFFF"/>
                </a:solidFill>
              </a:defRPr>
            </a:pPr>
            <a:r>
              <a:t>WITH MYOMECTOMY DONE</a:t>
            </a:r>
          </a:p>
        </p:txBody>
      </p:sp>
      <p:sp>
        <p:nvSpPr>
          <p:cNvPr id="25" name="Shape 5"/>
          <p:cNvSpPr/>
          <p:nvPr/>
        </p:nvSpPr>
        <p:spPr>
          <a:xfrm>
            <a:off x="2286000" y="1828799"/>
            <a:ext cx="4572000" cy="36579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" name="Text 6"/>
          <p:cNvSpPr txBox="1"/>
          <p:nvPr/>
        </p:nvSpPr>
        <p:spPr>
          <a:xfrm>
            <a:off x="457200" y="2047328"/>
            <a:ext cx="8229600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OGAGA RITA EMUOBOSA</a:t>
            </a:r>
          </a:p>
        </p:txBody>
      </p:sp>
      <p:sp>
        <p:nvSpPr>
          <p:cNvPr id="27" name="Text 7"/>
          <p:cNvSpPr txBox="1"/>
          <p:nvPr/>
        </p:nvSpPr>
        <p:spPr>
          <a:xfrm>
            <a:off x="457200" y="2444181"/>
            <a:ext cx="822960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7EA8D4"/>
                </a:solidFill>
              </a:defRPr>
            </a:lvl1pPr>
          </a:lstStyle>
          <a:p>
            <a:pPr/>
            <a:r>
              <a:t>CONPRN25088  |  97TH INTAKE</a:t>
            </a:r>
          </a:p>
        </p:txBody>
      </p:sp>
      <p:sp>
        <p:nvSpPr>
          <p:cNvPr id="28" name="Text 8"/>
          <p:cNvSpPr txBox="1"/>
          <p:nvPr/>
        </p:nvSpPr>
        <p:spPr>
          <a:xfrm>
            <a:off x="457200" y="2922840"/>
            <a:ext cx="8229600" cy="646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400">
                <a:solidFill>
                  <a:srgbClr val="E8EDF4"/>
                </a:solidFill>
              </a:defRPr>
            </a:pPr>
            <a:r>
              <a:t>DEPARTMENT OF NURSING SCIENCES</a:t>
            </a:r>
          </a:p>
          <a:p>
            <a:pPr algn="ctr">
              <a:defRPr sz="1400">
                <a:solidFill>
                  <a:srgbClr val="E8EDF4"/>
                </a:solidFill>
              </a:defRPr>
            </a:pPr>
            <a:r>
              <a:t>COLLEGE OF NURSING SCIENCES</a:t>
            </a:r>
          </a:p>
          <a:p>
            <a:pPr algn="ctr">
              <a:defRPr sz="1400">
                <a:solidFill>
                  <a:srgbClr val="E8EDF4"/>
                </a:solidFill>
              </a:defRPr>
            </a:pPr>
            <a:r>
              <a:t>UNIVERSITY OF BENIN TEACHING HOSPITAL, BENIN CITY</a:t>
            </a:r>
          </a:p>
        </p:txBody>
      </p:sp>
      <p:sp>
        <p:nvSpPr>
          <p:cNvPr id="29" name="Text 9"/>
          <p:cNvSpPr txBox="1"/>
          <p:nvPr/>
        </p:nvSpPr>
        <p:spPr>
          <a:xfrm>
            <a:off x="457200" y="3919396"/>
            <a:ext cx="8229600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i="1" sz="1100">
                <a:solidFill>
                  <a:srgbClr val="7EA8D4"/>
                </a:solidFill>
              </a:defRPr>
            </a:pPr>
            <a:r>
              <a:t>IN PARTIAL FULFILMENT OF THE REQUIREMENT OF THE NURSING AND MIDWIFERY</a:t>
            </a:r>
          </a:p>
          <a:p>
            <a:pPr algn="ctr">
              <a:defRPr i="1" sz="1100">
                <a:solidFill>
                  <a:srgbClr val="7EA8D4"/>
                </a:solidFill>
              </a:defRPr>
            </a:pPr>
            <a:r>
              <a:t>COUNCIL OF NIGERIA FOR THE AWARD OF THE REGISTERED NURSES CERTIFICATE</a:t>
            </a:r>
          </a:p>
        </p:txBody>
      </p:sp>
      <p:sp>
        <p:nvSpPr>
          <p:cNvPr id="30" name="Text 10"/>
          <p:cNvSpPr txBox="1"/>
          <p:nvPr/>
        </p:nvSpPr>
        <p:spPr>
          <a:xfrm>
            <a:off x="457200" y="4534337"/>
            <a:ext cx="822960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JULY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5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" name="Shape 1"/>
          <p:cNvSpPr/>
          <p:nvPr/>
        </p:nvSpPr>
        <p:spPr>
          <a:xfrm>
            <a:off x="0" y="-1"/>
            <a:ext cx="9144000" cy="777242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" name="Text 2"/>
          <p:cNvSpPr txBox="1"/>
          <p:nvPr/>
        </p:nvSpPr>
        <p:spPr>
          <a:xfrm>
            <a:off x="365759" y="260965"/>
            <a:ext cx="8412482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CHAPTER 1: INTRODUCTION TO CARE STUDY</a:t>
            </a:r>
          </a:p>
        </p:txBody>
      </p:sp>
      <p:sp>
        <p:nvSpPr>
          <p:cNvPr id="35" name="Text 3"/>
          <p:cNvSpPr txBox="1"/>
          <p:nvPr/>
        </p:nvSpPr>
        <p:spPr>
          <a:xfrm>
            <a:off x="274320" y="4942840"/>
            <a:ext cx="8595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7EA8D4"/>
                </a:solidFill>
              </a:defRPr>
            </a:lvl1pPr>
          </a:lstStyle>
          <a:p>
            <a:pPr/>
            <a:r>
              <a:t>OGAGA RITA EMUOBOSA  |  CONPRN25088</a:t>
            </a:r>
          </a:p>
        </p:txBody>
      </p:sp>
      <p:sp>
        <p:nvSpPr>
          <p:cNvPr id="36" name="Text 4"/>
          <p:cNvSpPr txBox="1"/>
          <p:nvPr/>
        </p:nvSpPr>
        <p:spPr>
          <a:xfrm>
            <a:off x="365759" y="868680"/>
            <a:ext cx="8412482" cy="872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defRPr sz="1500">
                <a:solidFill>
                  <a:srgbClr val="FFFFFF"/>
                </a:solidFill>
              </a:defRPr>
            </a:lvl1pPr>
          </a:lstStyle>
          <a:p>
            <a:pPr/>
            <a:r>
              <a:t>This is a care study of Mrs M.J., a 46-year-old Multiparous woman and civil servant admitted into the Gynaecological Ward (Ward A2) of the University of Benin Teaching Hospital (UBTH) on the 4th of March 2026 at approximately 10:50 am, via the Gynaecology Clinic, with the diagnosis of Uterine Fibroid with Menorrhagia — to have a Myomectomy performed under the care of Prof. Osai.</a:t>
            </a:r>
          </a:p>
        </p:txBody>
      </p:sp>
      <p:sp>
        <p:nvSpPr>
          <p:cNvPr id="37" name="Shape 5"/>
          <p:cNvSpPr/>
          <p:nvPr/>
        </p:nvSpPr>
        <p:spPr>
          <a:xfrm>
            <a:off x="365759" y="2285999"/>
            <a:ext cx="8412482" cy="2468883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" name="Text 6"/>
          <p:cNvSpPr txBox="1"/>
          <p:nvPr/>
        </p:nvSpPr>
        <p:spPr>
          <a:xfrm>
            <a:off x="502919" y="2425893"/>
            <a:ext cx="82296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PATIENT SUMMARY ON ADMISSION</a:t>
            </a:r>
          </a:p>
        </p:txBody>
      </p:sp>
      <p:sp>
        <p:nvSpPr>
          <p:cNvPr id="39" name="Text 7"/>
          <p:cNvSpPr txBox="1"/>
          <p:nvPr/>
        </p:nvSpPr>
        <p:spPr>
          <a:xfrm>
            <a:off x="457200" y="2697478"/>
            <a:ext cx="4114800" cy="143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Name: Mrs M.J.</a:t>
            </a:r>
          </a:p>
          <a:p>
            <a:pPr marL="342900" indent="-3429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Age: 46 years</a:t>
            </a:r>
          </a:p>
          <a:p>
            <a:pPr marL="342900" indent="-3429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Parity: Multiparous</a:t>
            </a:r>
          </a:p>
          <a:p>
            <a:pPr marL="342900" indent="-3429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Occupation: Civil Servant</a:t>
            </a:r>
          </a:p>
          <a:p>
            <a:pPr marL="342900" indent="-3429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Ward: A2 — Female Gynaecological Ward</a:t>
            </a:r>
          </a:p>
          <a:p>
            <a:pPr marL="342900" indent="-3429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Consultant: Prof. Osai</a:t>
            </a:r>
          </a:p>
        </p:txBody>
      </p:sp>
      <p:sp>
        <p:nvSpPr>
          <p:cNvPr id="40" name="Text 8"/>
          <p:cNvSpPr txBox="1"/>
          <p:nvPr/>
        </p:nvSpPr>
        <p:spPr>
          <a:xfrm>
            <a:off x="4663440" y="2697478"/>
            <a:ext cx="3931921" cy="143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Diagnosis: Uterine Fibroid with Menorrhagia</a:t>
            </a:r>
          </a:p>
          <a:p>
            <a:pPr marL="342900" indent="-3429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Date of Admission: 4th March 2026</a:t>
            </a:r>
          </a:p>
          <a:p>
            <a:pPr marL="342900" indent="-3429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Operation: Myomectomy (9th March 2026)</a:t>
            </a:r>
          </a:p>
          <a:p>
            <a:pPr marL="342900" indent="-3429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Anaesthesia: General Anaesthesia</a:t>
            </a:r>
          </a:p>
          <a:p>
            <a:pPr marL="342900" indent="-3429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Date of Discharge: 17th March 2026</a:t>
            </a:r>
          </a:p>
          <a:p>
            <a:pPr marL="342900" indent="-3429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Hospital: UBTH, Benin City</a:t>
            </a:r>
          </a:p>
        </p:txBody>
      </p:sp>
      <p:sp>
        <p:nvSpPr>
          <p:cNvPr id="41" name="Text 9"/>
          <p:cNvSpPr txBox="1"/>
          <p:nvPr/>
        </p:nvSpPr>
        <p:spPr>
          <a:xfrm>
            <a:off x="365759" y="4805215"/>
            <a:ext cx="841248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7EA8D4"/>
                </a:solidFill>
              </a:defRPr>
            </a:lvl1pPr>
          </a:lstStyle>
          <a:p>
            <a:pPr/>
            <a:r>
              <a:t>Vital Signs on Admission: Temp 36°C | Pulse 101 bpm | RR 26 cpm | BP 120/80 mmHg | SpO2 97% | PCV 30%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push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" name="Text 2"/>
          <p:cNvSpPr txBox="1"/>
          <p:nvPr/>
        </p:nvSpPr>
        <p:spPr>
          <a:xfrm>
            <a:off x="365759" y="302113"/>
            <a:ext cx="8412482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OBJECTIVES OF THE STUDY</a:t>
            </a:r>
          </a:p>
        </p:txBody>
      </p:sp>
      <p:sp>
        <p:nvSpPr>
          <p:cNvPr id="46" name="Text 3"/>
          <p:cNvSpPr txBox="1"/>
          <p:nvPr/>
        </p:nvSpPr>
        <p:spPr>
          <a:xfrm>
            <a:off x="274320" y="4942840"/>
            <a:ext cx="8595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8899AA"/>
                </a:solidFill>
              </a:defRPr>
            </a:lvl1pPr>
          </a:lstStyle>
          <a:p>
            <a:pPr/>
            <a:r>
              <a:t>OGAGA RITA EMUOBOSA  |  CONPRN25088</a:t>
            </a:r>
          </a:p>
        </p:txBody>
      </p:sp>
      <p:sp>
        <p:nvSpPr>
          <p:cNvPr id="47" name="Shape 4"/>
          <p:cNvSpPr/>
          <p:nvPr/>
        </p:nvSpPr>
        <p:spPr>
          <a:xfrm>
            <a:off x="365759" y="1051560"/>
            <a:ext cx="8412482" cy="822962"/>
          </a:xfrm>
          <a:prstGeom prst="rect">
            <a:avLst/>
          </a:prstGeom>
          <a:solidFill>
            <a:srgbClr val="E8EDF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" name="Shape 5"/>
          <p:cNvSpPr/>
          <p:nvPr/>
        </p:nvSpPr>
        <p:spPr>
          <a:xfrm>
            <a:off x="365758" y="1051560"/>
            <a:ext cx="502921" cy="822962"/>
          </a:xfrm>
          <a:prstGeom prst="rect">
            <a:avLst/>
          </a:prstGeom>
          <a:solidFill>
            <a:srgbClr val="0D2B5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" name="Text 6"/>
          <p:cNvSpPr txBox="1"/>
          <p:nvPr/>
        </p:nvSpPr>
        <p:spPr>
          <a:xfrm>
            <a:off x="365758" y="1316071"/>
            <a:ext cx="502921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0" name="Text 7"/>
          <p:cNvSpPr txBox="1"/>
          <p:nvPr/>
        </p:nvSpPr>
        <p:spPr>
          <a:xfrm>
            <a:off x="1005840" y="1381322"/>
            <a:ext cx="7589519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0D2B55"/>
                </a:solidFill>
              </a:defRPr>
            </a:lvl1pPr>
          </a:lstStyle>
          <a:p>
            <a:pPr/>
            <a:r>
              <a:t>To identify the causes, signs and symptoms of uterine fibroids</a:t>
            </a:r>
          </a:p>
        </p:txBody>
      </p:sp>
      <p:sp>
        <p:nvSpPr>
          <p:cNvPr id="51" name="Shape 8"/>
          <p:cNvSpPr/>
          <p:nvPr/>
        </p:nvSpPr>
        <p:spPr>
          <a:xfrm>
            <a:off x="365759" y="2011678"/>
            <a:ext cx="8412482" cy="822962"/>
          </a:xfrm>
          <a:prstGeom prst="rect">
            <a:avLst/>
          </a:prstGeom>
          <a:solidFill>
            <a:srgbClr val="E8EDF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" name="Shape 9"/>
          <p:cNvSpPr/>
          <p:nvPr/>
        </p:nvSpPr>
        <p:spPr>
          <a:xfrm>
            <a:off x="365758" y="2011678"/>
            <a:ext cx="502921" cy="822962"/>
          </a:xfrm>
          <a:prstGeom prst="rect">
            <a:avLst/>
          </a:prstGeom>
          <a:solidFill>
            <a:srgbClr val="0D2B5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" name="Text 10"/>
          <p:cNvSpPr txBox="1"/>
          <p:nvPr/>
        </p:nvSpPr>
        <p:spPr>
          <a:xfrm>
            <a:off x="365758" y="2276192"/>
            <a:ext cx="502921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4" name="Text 11"/>
          <p:cNvSpPr txBox="1"/>
          <p:nvPr/>
        </p:nvSpPr>
        <p:spPr>
          <a:xfrm>
            <a:off x="1005840" y="2341442"/>
            <a:ext cx="7589519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0D2B55"/>
                </a:solidFill>
              </a:defRPr>
            </a:lvl1pPr>
          </a:lstStyle>
          <a:p>
            <a:pPr/>
            <a:r>
              <a:t>To assess the patient's history, physical examination and investigation results</a:t>
            </a:r>
          </a:p>
        </p:txBody>
      </p:sp>
      <p:sp>
        <p:nvSpPr>
          <p:cNvPr id="55" name="Shape 12"/>
          <p:cNvSpPr/>
          <p:nvPr/>
        </p:nvSpPr>
        <p:spPr>
          <a:xfrm>
            <a:off x="365759" y="2971799"/>
            <a:ext cx="8412482" cy="822963"/>
          </a:xfrm>
          <a:prstGeom prst="rect">
            <a:avLst/>
          </a:prstGeom>
          <a:solidFill>
            <a:srgbClr val="E8EDF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" name="Shape 13"/>
          <p:cNvSpPr/>
          <p:nvPr/>
        </p:nvSpPr>
        <p:spPr>
          <a:xfrm>
            <a:off x="365758" y="2971799"/>
            <a:ext cx="502921" cy="822963"/>
          </a:xfrm>
          <a:prstGeom prst="rect">
            <a:avLst/>
          </a:prstGeom>
          <a:solidFill>
            <a:srgbClr val="0D2B5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" name="Text 14"/>
          <p:cNvSpPr txBox="1"/>
          <p:nvPr/>
        </p:nvSpPr>
        <p:spPr>
          <a:xfrm>
            <a:off x="365758" y="3236311"/>
            <a:ext cx="502921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8" name="Text 15"/>
          <p:cNvSpPr txBox="1"/>
          <p:nvPr/>
        </p:nvSpPr>
        <p:spPr>
          <a:xfrm>
            <a:off x="1005840" y="3301562"/>
            <a:ext cx="7589519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0D2B55"/>
                </a:solidFill>
              </a:defRPr>
            </a:lvl1pPr>
          </a:lstStyle>
          <a:p>
            <a:pPr/>
            <a:r>
              <a:t>To identify the treatment and management options for uterine fibroids</a:t>
            </a:r>
          </a:p>
        </p:txBody>
      </p:sp>
      <p:sp>
        <p:nvSpPr>
          <p:cNvPr id="59" name="Shape 16"/>
          <p:cNvSpPr/>
          <p:nvPr/>
        </p:nvSpPr>
        <p:spPr>
          <a:xfrm>
            <a:off x="365759" y="3931920"/>
            <a:ext cx="8412482" cy="822962"/>
          </a:xfrm>
          <a:prstGeom prst="rect">
            <a:avLst/>
          </a:prstGeom>
          <a:solidFill>
            <a:srgbClr val="E8EDF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" name="Shape 17"/>
          <p:cNvSpPr/>
          <p:nvPr/>
        </p:nvSpPr>
        <p:spPr>
          <a:xfrm>
            <a:off x="365758" y="3931920"/>
            <a:ext cx="502921" cy="822962"/>
          </a:xfrm>
          <a:prstGeom prst="rect">
            <a:avLst/>
          </a:prstGeom>
          <a:solidFill>
            <a:srgbClr val="0D2B5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" name="Text 18"/>
          <p:cNvSpPr txBox="1"/>
          <p:nvPr/>
        </p:nvSpPr>
        <p:spPr>
          <a:xfrm>
            <a:off x="365758" y="4196431"/>
            <a:ext cx="502921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2" name="Text 19"/>
          <p:cNvSpPr txBox="1"/>
          <p:nvPr/>
        </p:nvSpPr>
        <p:spPr>
          <a:xfrm>
            <a:off x="1005840" y="4261682"/>
            <a:ext cx="7589519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0D2B55"/>
                </a:solidFill>
              </a:defRPr>
            </a:lvl1pPr>
          </a:lstStyle>
          <a:p>
            <a:pPr/>
            <a:r>
              <a:t>To provide appropriate and comprehensive nursing care to the patient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push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5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" name="Shape 1"/>
          <p:cNvSpPr/>
          <p:nvPr/>
        </p:nvSpPr>
        <p:spPr>
          <a:xfrm>
            <a:off x="0" y="-1"/>
            <a:ext cx="9144000" cy="777242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" name="Text 2"/>
          <p:cNvSpPr txBox="1"/>
          <p:nvPr/>
        </p:nvSpPr>
        <p:spPr>
          <a:xfrm>
            <a:off x="365759" y="260965"/>
            <a:ext cx="8412482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CHAPTER 2: LITERATURE REVIEW — DEFINITION</a:t>
            </a:r>
          </a:p>
        </p:txBody>
      </p:sp>
      <p:sp>
        <p:nvSpPr>
          <p:cNvPr id="67" name="Text 3"/>
          <p:cNvSpPr txBox="1"/>
          <p:nvPr/>
        </p:nvSpPr>
        <p:spPr>
          <a:xfrm>
            <a:off x="274320" y="4942840"/>
            <a:ext cx="8595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7EA8D4"/>
                </a:solidFill>
              </a:defRPr>
            </a:lvl1pPr>
          </a:lstStyle>
          <a:p>
            <a:pPr/>
            <a:r>
              <a:t>OGAGA RITA EMUOBOSA  |  CONPRN25088</a:t>
            </a:r>
          </a:p>
        </p:txBody>
      </p:sp>
      <p:sp>
        <p:nvSpPr>
          <p:cNvPr id="68" name="Text 4"/>
          <p:cNvSpPr txBox="1"/>
          <p:nvPr/>
        </p:nvSpPr>
        <p:spPr>
          <a:xfrm>
            <a:off x="365759" y="932889"/>
            <a:ext cx="8412482" cy="219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7EA8D4"/>
                </a:solidFill>
              </a:defRPr>
            </a:lvl1pPr>
          </a:lstStyle>
          <a:p>
            <a:pPr/>
            <a:r>
              <a:t>WHAT ARE UTERINE FIBROIDS?</a:t>
            </a:r>
          </a:p>
        </p:txBody>
      </p:sp>
      <p:sp>
        <p:nvSpPr>
          <p:cNvPr id="69" name="Text 5"/>
          <p:cNvSpPr txBox="1"/>
          <p:nvPr/>
        </p:nvSpPr>
        <p:spPr>
          <a:xfrm>
            <a:off x="365759" y="1261871"/>
            <a:ext cx="8412482" cy="875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Uterine fibroids (leiomyomas) are benign (non-cancerous) smooth muscle tumors that develop from the myometrium — the smooth muscle layer of the uterus. They are the most common tumors of the female reproductive system, occurring mainly in women of reproductive age. Studies show up to 70–80% of women may develop fibroids by age 50, although not all cases present with symptoms.</a:t>
            </a:r>
          </a:p>
        </p:txBody>
      </p:sp>
      <p:sp>
        <p:nvSpPr>
          <p:cNvPr id="70" name="Shape 6"/>
          <p:cNvSpPr/>
          <p:nvPr/>
        </p:nvSpPr>
        <p:spPr>
          <a:xfrm>
            <a:off x="320038" y="2423160"/>
            <a:ext cx="2697484" cy="2514602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" name="Text 7"/>
          <p:cNvSpPr txBox="1"/>
          <p:nvPr/>
        </p:nvSpPr>
        <p:spPr>
          <a:xfrm>
            <a:off x="411480" y="2580053"/>
            <a:ext cx="251460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C8DCF0"/>
                </a:solidFill>
              </a:defRPr>
            </a:lvl1pPr>
          </a:lstStyle>
          <a:p>
            <a:pPr/>
            <a:r>
              <a:t>Cleveland Clinic (2024)</a:t>
            </a:r>
          </a:p>
        </p:txBody>
      </p:sp>
      <p:sp>
        <p:nvSpPr>
          <p:cNvPr id="72" name="Text 8"/>
          <p:cNvSpPr txBox="1"/>
          <p:nvPr/>
        </p:nvSpPr>
        <p:spPr>
          <a:xfrm>
            <a:off x="411480" y="2834638"/>
            <a:ext cx="2514602" cy="728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Growths made of muscle and tissue that form in or on the wall of the uterus. Usually benign and the most common non-cancerous tumor in females.</a:t>
            </a:r>
          </a:p>
        </p:txBody>
      </p:sp>
      <p:sp>
        <p:nvSpPr>
          <p:cNvPr id="73" name="Shape 9"/>
          <p:cNvSpPr/>
          <p:nvPr/>
        </p:nvSpPr>
        <p:spPr>
          <a:xfrm>
            <a:off x="3154678" y="2423160"/>
            <a:ext cx="2697482" cy="2514602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" name="Text 10"/>
          <p:cNvSpPr txBox="1"/>
          <p:nvPr/>
        </p:nvSpPr>
        <p:spPr>
          <a:xfrm>
            <a:off x="3246120" y="2580053"/>
            <a:ext cx="251460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C8DCF0"/>
                </a:solidFill>
              </a:defRPr>
            </a:lvl1pPr>
          </a:lstStyle>
          <a:p>
            <a:pPr/>
            <a:r>
              <a:t>Merck Manual</a:t>
            </a:r>
          </a:p>
        </p:txBody>
      </p:sp>
      <p:sp>
        <p:nvSpPr>
          <p:cNvPr id="75" name="Text 11"/>
          <p:cNvSpPr txBox="1"/>
          <p:nvPr/>
        </p:nvSpPr>
        <p:spPr>
          <a:xfrm>
            <a:off x="3246120" y="2834638"/>
            <a:ext cx="2514602" cy="918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Occur in greater than 25% of women over age 35. A common cause of menorrhagia. May be entirely asymptomatic depending on size and location.</a:t>
            </a:r>
          </a:p>
        </p:txBody>
      </p:sp>
      <p:sp>
        <p:nvSpPr>
          <p:cNvPr id="76" name="Shape 12"/>
          <p:cNvSpPr/>
          <p:nvPr/>
        </p:nvSpPr>
        <p:spPr>
          <a:xfrm>
            <a:off x="5989320" y="2423160"/>
            <a:ext cx="2697482" cy="2514602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" name="Text 13"/>
          <p:cNvSpPr txBox="1"/>
          <p:nvPr/>
        </p:nvSpPr>
        <p:spPr>
          <a:xfrm>
            <a:off x="6080759" y="2580053"/>
            <a:ext cx="251460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C8DCF0"/>
                </a:solidFill>
              </a:defRPr>
            </a:lvl1pPr>
          </a:lstStyle>
          <a:p>
            <a:pPr/>
            <a:r>
              <a:t>Brunner &amp; Suddarth</a:t>
            </a:r>
          </a:p>
        </p:txBody>
      </p:sp>
      <p:sp>
        <p:nvSpPr>
          <p:cNvPr id="78" name="Text 14"/>
          <p:cNvSpPr txBox="1"/>
          <p:nvPr/>
        </p:nvSpPr>
        <p:spPr>
          <a:xfrm>
            <a:off x="6080759" y="2834638"/>
            <a:ext cx="2514602" cy="918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Treatment depends on size, symptoms and location. Large tumors causing pressure symptoms should be removed (myomectomy). Hysterectomy if childbearing is completed.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push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" name="Text 2"/>
          <p:cNvSpPr txBox="1"/>
          <p:nvPr/>
        </p:nvSpPr>
        <p:spPr>
          <a:xfrm>
            <a:off x="365759" y="302113"/>
            <a:ext cx="8412482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CAUSES &amp; RISK FACTORS OF UTERINE FIBROIDS</a:t>
            </a:r>
          </a:p>
        </p:txBody>
      </p:sp>
      <p:sp>
        <p:nvSpPr>
          <p:cNvPr id="83" name="Text 3"/>
          <p:cNvSpPr txBox="1"/>
          <p:nvPr/>
        </p:nvSpPr>
        <p:spPr>
          <a:xfrm>
            <a:off x="274320" y="4942840"/>
            <a:ext cx="8595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8899AA"/>
                </a:solidFill>
              </a:defRPr>
            </a:lvl1pPr>
          </a:lstStyle>
          <a:p>
            <a:pPr/>
            <a:r>
              <a:t>OGAGA RITA EMUOBOSA  |  CONPRN25088</a:t>
            </a:r>
          </a:p>
        </p:txBody>
      </p:sp>
      <p:sp>
        <p:nvSpPr>
          <p:cNvPr id="84" name="Text 4"/>
          <p:cNvSpPr txBox="1"/>
          <p:nvPr/>
        </p:nvSpPr>
        <p:spPr>
          <a:xfrm>
            <a:off x="365758" y="1040576"/>
            <a:ext cx="5029203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D2B55"/>
                </a:solidFill>
              </a:defRPr>
            </a:lvl1pPr>
          </a:lstStyle>
          <a:p>
            <a:pPr/>
            <a:r>
              <a:t>CAUSES</a:t>
            </a:r>
          </a:p>
        </p:txBody>
      </p:sp>
      <p:sp>
        <p:nvSpPr>
          <p:cNvPr id="85" name="Text 5"/>
          <p:cNvSpPr txBox="1"/>
          <p:nvPr/>
        </p:nvSpPr>
        <p:spPr>
          <a:xfrm>
            <a:off x="365758" y="1280160"/>
            <a:ext cx="5029203" cy="2856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500"/>
              </a:spcBef>
              <a:buSzPct val="100000"/>
              <a:buChar char="•"/>
              <a:defRPr sz="1400">
                <a:solidFill>
                  <a:srgbClr val="0D2B55"/>
                </a:solidFill>
              </a:defRPr>
            </a:pPr>
            <a:r>
              <a:t>Hormonal influences — estrogen and progesterone stimulate fibroid growth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400">
                <a:solidFill>
                  <a:srgbClr val="0D2B55"/>
                </a:solidFill>
              </a:defRPr>
            </a:pPr>
            <a:r>
              <a:t>Genetic predisposition — family history of fibroids increases risk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400">
                <a:solidFill>
                  <a:srgbClr val="0D2B55"/>
                </a:solidFill>
              </a:defRPr>
            </a:pPr>
            <a:r>
              <a:t>Racial factors — higher incidence reported among women of African descent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400">
                <a:solidFill>
                  <a:srgbClr val="0D2B55"/>
                </a:solidFill>
              </a:defRPr>
            </a:pPr>
            <a:r>
              <a:t>Obesity — excess body fat increases circulating estrogen levels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400">
                <a:solidFill>
                  <a:srgbClr val="0D2B55"/>
                </a:solidFill>
              </a:defRPr>
            </a:pPr>
            <a:r>
              <a:t>Early menarche — onset of menstruation before age 10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400">
                <a:solidFill>
                  <a:srgbClr val="0D2B55"/>
                </a:solidFill>
              </a:defRPr>
            </a:pPr>
            <a:r>
              <a:t>Nulliparity — women who have never carried a pregnancy to term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400">
                <a:solidFill>
                  <a:srgbClr val="0D2B55"/>
                </a:solidFill>
              </a:defRPr>
            </a:pPr>
            <a:r>
              <a:t>Growth factors — VEGF and TGF-β implicated in fibroid development</a:t>
            </a:r>
          </a:p>
        </p:txBody>
      </p:sp>
      <p:sp>
        <p:nvSpPr>
          <p:cNvPr id="86" name="Text 6"/>
          <p:cNvSpPr txBox="1"/>
          <p:nvPr/>
        </p:nvSpPr>
        <p:spPr>
          <a:xfrm>
            <a:off x="5577840" y="1040576"/>
            <a:ext cx="3383282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D2B55"/>
                </a:solidFill>
              </a:defRPr>
            </a:lvl1pPr>
          </a:lstStyle>
          <a:p>
            <a:pPr/>
            <a:r>
              <a:t>PREDISPOSING RISK FACTORS</a:t>
            </a:r>
          </a:p>
        </p:txBody>
      </p:sp>
      <p:sp>
        <p:nvSpPr>
          <p:cNvPr id="87" name="Shape 7"/>
          <p:cNvSpPr/>
          <p:nvPr/>
        </p:nvSpPr>
        <p:spPr>
          <a:xfrm>
            <a:off x="5577840" y="1280160"/>
            <a:ext cx="3291842" cy="3566160"/>
          </a:xfrm>
          <a:prstGeom prst="rect">
            <a:avLst/>
          </a:prstGeom>
          <a:solidFill>
            <a:srgbClr val="0D2B5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" name="Text 8"/>
          <p:cNvSpPr txBox="1"/>
          <p:nvPr/>
        </p:nvSpPr>
        <p:spPr>
          <a:xfrm>
            <a:off x="5669279" y="1371600"/>
            <a:ext cx="3108962" cy="1893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8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Age 35–50 years (late reproductive years)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Secondary infertility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African/Black race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Diet low in fruits and vegetables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Vitamin D deficiency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Stress and lifestyle factors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push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5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" name="Shape 1"/>
          <p:cNvSpPr/>
          <p:nvPr/>
        </p:nvSpPr>
        <p:spPr>
          <a:xfrm>
            <a:off x="0" y="-1"/>
            <a:ext cx="9144000" cy="777242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" name="Text 2"/>
          <p:cNvSpPr txBox="1"/>
          <p:nvPr/>
        </p:nvSpPr>
        <p:spPr>
          <a:xfrm>
            <a:off x="365759" y="260965"/>
            <a:ext cx="8412482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SIGNS &amp; SYMPTOMS / CLINICAL MANIFESTATIONS</a:t>
            </a:r>
          </a:p>
        </p:txBody>
      </p:sp>
      <p:sp>
        <p:nvSpPr>
          <p:cNvPr id="93" name="Text 3"/>
          <p:cNvSpPr txBox="1"/>
          <p:nvPr/>
        </p:nvSpPr>
        <p:spPr>
          <a:xfrm>
            <a:off x="274320" y="4942840"/>
            <a:ext cx="8595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7EA8D4"/>
                </a:solidFill>
              </a:defRPr>
            </a:lvl1pPr>
          </a:lstStyle>
          <a:p>
            <a:pPr/>
            <a:r>
              <a:t>OGAGA RITA EMUOBOSA  |  CONPRN25088</a:t>
            </a:r>
          </a:p>
        </p:txBody>
      </p:sp>
      <p:sp>
        <p:nvSpPr>
          <p:cNvPr id="94" name="Shape 4"/>
          <p:cNvSpPr/>
          <p:nvPr/>
        </p:nvSpPr>
        <p:spPr>
          <a:xfrm>
            <a:off x="320038" y="914400"/>
            <a:ext cx="4160523" cy="1188720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" name="Text 5"/>
          <p:cNvSpPr txBox="1"/>
          <p:nvPr/>
        </p:nvSpPr>
        <p:spPr>
          <a:xfrm>
            <a:off x="457200" y="1068009"/>
            <a:ext cx="388620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Heavy Menstrual Bleeding</a:t>
            </a:r>
          </a:p>
        </p:txBody>
      </p:sp>
      <p:sp>
        <p:nvSpPr>
          <p:cNvPr id="96" name="Text 6"/>
          <p:cNvSpPr txBox="1"/>
          <p:nvPr/>
        </p:nvSpPr>
        <p:spPr>
          <a:xfrm>
            <a:off x="457200" y="1325880"/>
            <a:ext cx="3886200" cy="369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E8EDF4"/>
                </a:solidFill>
              </a:defRPr>
            </a:lvl1pPr>
          </a:lstStyle>
          <a:p>
            <a:pPr/>
            <a:r>
              <a:t>Menorrhagia — the most common symptom; can lead to iron-deficiency anaemia</a:t>
            </a:r>
          </a:p>
        </p:txBody>
      </p:sp>
      <p:sp>
        <p:nvSpPr>
          <p:cNvPr id="97" name="Shape 7"/>
          <p:cNvSpPr/>
          <p:nvPr/>
        </p:nvSpPr>
        <p:spPr>
          <a:xfrm>
            <a:off x="4754879" y="914400"/>
            <a:ext cx="4160521" cy="1188720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" name="Text 8"/>
          <p:cNvSpPr txBox="1"/>
          <p:nvPr/>
        </p:nvSpPr>
        <p:spPr>
          <a:xfrm>
            <a:off x="4892040" y="1068009"/>
            <a:ext cx="388620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Pelvic Pain &amp; Pressure</a:t>
            </a:r>
          </a:p>
        </p:txBody>
      </p:sp>
      <p:sp>
        <p:nvSpPr>
          <p:cNvPr id="99" name="Text 9"/>
          <p:cNvSpPr txBox="1"/>
          <p:nvPr/>
        </p:nvSpPr>
        <p:spPr>
          <a:xfrm>
            <a:off x="4892040" y="1325880"/>
            <a:ext cx="3886202" cy="369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E8EDF4"/>
                </a:solidFill>
              </a:defRPr>
            </a:lvl1pPr>
          </a:lstStyle>
          <a:p>
            <a:pPr/>
            <a:r>
              <a:t>Dull or crampy pain in the lower abdomen; pressure on surrounding organs</a:t>
            </a:r>
          </a:p>
        </p:txBody>
      </p:sp>
      <p:sp>
        <p:nvSpPr>
          <p:cNvPr id="100" name="Shape 10"/>
          <p:cNvSpPr/>
          <p:nvPr/>
        </p:nvSpPr>
        <p:spPr>
          <a:xfrm>
            <a:off x="320038" y="2240278"/>
            <a:ext cx="4160523" cy="1188722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" name="Text 11"/>
          <p:cNvSpPr txBox="1"/>
          <p:nvPr/>
        </p:nvSpPr>
        <p:spPr>
          <a:xfrm>
            <a:off x="457200" y="2393889"/>
            <a:ext cx="388620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Abdominal Enlargement</a:t>
            </a:r>
          </a:p>
        </p:txBody>
      </p:sp>
      <p:sp>
        <p:nvSpPr>
          <p:cNvPr id="102" name="Text 12"/>
          <p:cNvSpPr txBox="1"/>
          <p:nvPr/>
        </p:nvSpPr>
        <p:spPr>
          <a:xfrm>
            <a:off x="457200" y="2651760"/>
            <a:ext cx="3886200" cy="369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E8EDF4"/>
                </a:solidFill>
              </a:defRPr>
            </a:lvl1pPr>
          </a:lstStyle>
          <a:p>
            <a:pPr/>
            <a:r>
              <a:t>Visible bloating or swelling of the lower abdomen as fibroids grow</a:t>
            </a:r>
          </a:p>
        </p:txBody>
      </p:sp>
      <p:sp>
        <p:nvSpPr>
          <p:cNvPr id="103" name="Shape 13"/>
          <p:cNvSpPr/>
          <p:nvPr/>
        </p:nvSpPr>
        <p:spPr>
          <a:xfrm>
            <a:off x="4754879" y="2240278"/>
            <a:ext cx="4160521" cy="1188722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" name="Text 14"/>
          <p:cNvSpPr txBox="1"/>
          <p:nvPr/>
        </p:nvSpPr>
        <p:spPr>
          <a:xfrm>
            <a:off x="4892040" y="2393889"/>
            <a:ext cx="388620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Urinary Symptoms</a:t>
            </a:r>
          </a:p>
        </p:txBody>
      </p:sp>
      <p:sp>
        <p:nvSpPr>
          <p:cNvPr id="105" name="Text 15"/>
          <p:cNvSpPr txBox="1"/>
          <p:nvPr/>
        </p:nvSpPr>
        <p:spPr>
          <a:xfrm>
            <a:off x="4892040" y="2651760"/>
            <a:ext cx="3886202" cy="369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E8EDF4"/>
                </a:solidFill>
              </a:defRPr>
            </a:lvl1pPr>
          </a:lstStyle>
          <a:p>
            <a:pPr/>
            <a:r>
              <a:t>Frequency, urgency or difficulty urinating due to bladder pressure</a:t>
            </a:r>
          </a:p>
        </p:txBody>
      </p:sp>
      <p:sp>
        <p:nvSpPr>
          <p:cNvPr id="106" name="Shape 16"/>
          <p:cNvSpPr/>
          <p:nvPr/>
        </p:nvSpPr>
        <p:spPr>
          <a:xfrm>
            <a:off x="320038" y="3566159"/>
            <a:ext cx="4160523" cy="1188722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" name="Text 17"/>
          <p:cNvSpPr txBox="1"/>
          <p:nvPr/>
        </p:nvSpPr>
        <p:spPr>
          <a:xfrm>
            <a:off x="457200" y="3719769"/>
            <a:ext cx="388620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Fatigue &amp; Weakness</a:t>
            </a:r>
          </a:p>
        </p:txBody>
      </p:sp>
      <p:sp>
        <p:nvSpPr>
          <p:cNvPr id="108" name="Text 18"/>
          <p:cNvSpPr txBox="1"/>
          <p:nvPr/>
        </p:nvSpPr>
        <p:spPr>
          <a:xfrm>
            <a:off x="457200" y="3977640"/>
            <a:ext cx="388620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E8EDF4"/>
                </a:solidFill>
              </a:defRPr>
            </a:lvl1pPr>
          </a:lstStyle>
          <a:p>
            <a:pPr/>
            <a:r>
              <a:t>Result of chronic blood loss and subsequent anaemia</a:t>
            </a:r>
          </a:p>
        </p:txBody>
      </p:sp>
      <p:sp>
        <p:nvSpPr>
          <p:cNvPr id="109" name="Shape 19"/>
          <p:cNvSpPr/>
          <p:nvPr/>
        </p:nvSpPr>
        <p:spPr>
          <a:xfrm>
            <a:off x="4754879" y="3566159"/>
            <a:ext cx="4160521" cy="1188722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" name="Text 20"/>
          <p:cNvSpPr txBox="1"/>
          <p:nvPr/>
        </p:nvSpPr>
        <p:spPr>
          <a:xfrm>
            <a:off x="4892040" y="3719769"/>
            <a:ext cx="388620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Dysmenorrhoea</a:t>
            </a:r>
          </a:p>
        </p:txBody>
      </p:sp>
      <p:sp>
        <p:nvSpPr>
          <p:cNvPr id="111" name="Text 21"/>
          <p:cNvSpPr txBox="1"/>
          <p:nvPr/>
        </p:nvSpPr>
        <p:spPr>
          <a:xfrm>
            <a:off x="4892040" y="3977640"/>
            <a:ext cx="388620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E8EDF4"/>
                </a:solidFill>
              </a:defRPr>
            </a:lvl1pPr>
          </a:lstStyle>
          <a:p>
            <a:pPr/>
            <a:r>
              <a:t>Painful menstruation, often severe in submucosal fibroids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push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" name="Text 2"/>
          <p:cNvSpPr txBox="1"/>
          <p:nvPr/>
        </p:nvSpPr>
        <p:spPr>
          <a:xfrm>
            <a:off x="365759" y="302113"/>
            <a:ext cx="8412482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CONCEPT &amp; CLASSIFICATION OF UTERINE FIBROIDS</a:t>
            </a:r>
          </a:p>
        </p:txBody>
      </p:sp>
      <p:sp>
        <p:nvSpPr>
          <p:cNvPr id="116" name="Text 3"/>
          <p:cNvSpPr txBox="1"/>
          <p:nvPr/>
        </p:nvSpPr>
        <p:spPr>
          <a:xfrm>
            <a:off x="274320" y="4942840"/>
            <a:ext cx="8595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8899AA"/>
                </a:solidFill>
              </a:defRPr>
            </a:lvl1pPr>
          </a:lstStyle>
          <a:p>
            <a:pPr/>
            <a:r>
              <a:t>OGAGA RITA EMUOBOSA  |  CONPRN25088</a:t>
            </a:r>
          </a:p>
        </p:txBody>
      </p:sp>
      <p:sp>
        <p:nvSpPr>
          <p:cNvPr id="117" name="Text 4"/>
          <p:cNvSpPr txBox="1"/>
          <p:nvPr/>
        </p:nvSpPr>
        <p:spPr>
          <a:xfrm>
            <a:off x="365759" y="1042994"/>
            <a:ext cx="8412482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D2B55"/>
                </a:solidFill>
              </a:defRPr>
            </a:lvl1pPr>
          </a:lstStyle>
          <a:p>
            <a:pPr/>
            <a:r>
              <a:t>CLASSIFICATION BY LOCATION</a:t>
            </a:r>
          </a:p>
        </p:txBody>
      </p:sp>
      <p:sp>
        <p:nvSpPr>
          <p:cNvPr id="118" name="Shape 5"/>
          <p:cNvSpPr/>
          <p:nvPr/>
        </p:nvSpPr>
        <p:spPr>
          <a:xfrm>
            <a:off x="320038" y="1417320"/>
            <a:ext cx="2697484" cy="3383280"/>
          </a:xfrm>
          <a:prstGeom prst="rect">
            <a:avLst/>
          </a:prstGeom>
          <a:solidFill>
            <a:srgbClr val="E8EDF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" name="Text 6"/>
          <p:cNvSpPr txBox="1"/>
          <p:nvPr/>
        </p:nvSpPr>
        <p:spPr>
          <a:xfrm>
            <a:off x="411480" y="1609922"/>
            <a:ext cx="2514602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0D2B55"/>
                </a:solidFill>
              </a:defRPr>
            </a:lvl1pPr>
          </a:lstStyle>
          <a:p>
            <a:pPr/>
            <a:r>
              <a:t>INTRAMURAL</a:t>
            </a:r>
          </a:p>
        </p:txBody>
      </p:sp>
      <p:sp>
        <p:nvSpPr>
          <p:cNvPr id="120" name="Text 7"/>
          <p:cNvSpPr txBox="1"/>
          <p:nvPr/>
        </p:nvSpPr>
        <p:spPr>
          <a:xfrm>
            <a:off x="429768" y="1993392"/>
            <a:ext cx="2487168" cy="9795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0D2B55"/>
                </a:solidFill>
              </a:defRPr>
            </a:lvl1pPr>
          </a:lstStyle>
          <a:p>
            <a:pPr/>
            <a:r>
              <a:t>Located within the muscular wall of the uterus (myometrium). Most common type. Can distort the uterine cavity causing heavy bleeding and pelvic pressure.</a:t>
            </a:r>
          </a:p>
        </p:txBody>
      </p:sp>
      <p:sp>
        <p:nvSpPr>
          <p:cNvPr id="121" name="Shape 8"/>
          <p:cNvSpPr/>
          <p:nvPr/>
        </p:nvSpPr>
        <p:spPr>
          <a:xfrm>
            <a:off x="3154678" y="1417320"/>
            <a:ext cx="2697482" cy="3383280"/>
          </a:xfrm>
          <a:prstGeom prst="rect">
            <a:avLst/>
          </a:prstGeom>
          <a:solidFill>
            <a:srgbClr val="0D2B5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" name="Text 9"/>
          <p:cNvSpPr txBox="1"/>
          <p:nvPr/>
        </p:nvSpPr>
        <p:spPr>
          <a:xfrm>
            <a:off x="3246120" y="1609922"/>
            <a:ext cx="2514602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SUBMUCOSAL</a:t>
            </a:r>
          </a:p>
        </p:txBody>
      </p:sp>
      <p:sp>
        <p:nvSpPr>
          <p:cNvPr id="123" name="Text 10"/>
          <p:cNvSpPr txBox="1"/>
          <p:nvPr/>
        </p:nvSpPr>
        <p:spPr>
          <a:xfrm>
            <a:off x="3264408" y="1993392"/>
            <a:ext cx="2487170" cy="9795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E8EDF4"/>
                </a:solidFill>
              </a:defRPr>
            </a:lvl1pPr>
          </a:lstStyle>
          <a:p>
            <a:pPr/>
            <a:r>
              <a:t>Grows into the uterine cavity (endometrium). Strongly associated with heavy menstrual bleeding. Most likely to cause infertility and recurrent miscarriage.</a:t>
            </a:r>
          </a:p>
        </p:txBody>
      </p:sp>
      <p:sp>
        <p:nvSpPr>
          <p:cNvPr id="124" name="Shape 11"/>
          <p:cNvSpPr/>
          <p:nvPr/>
        </p:nvSpPr>
        <p:spPr>
          <a:xfrm>
            <a:off x="5989320" y="1417320"/>
            <a:ext cx="2697482" cy="3383280"/>
          </a:xfrm>
          <a:prstGeom prst="rect">
            <a:avLst/>
          </a:prstGeom>
          <a:solidFill>
            <a:srgbClr val="E8EDF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" name="Text 12"/>
          <p:cNvSpPr txBox="1"/>
          <p:nvPr/>
        </p:nvSpPr>
        <p:spPr>
          <a:xfrm>
            <a:off x="6080759" y="1609922"/>
            <a:ext cx="2514602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0D2B55"/>
                </a:solidFill>
              </a:defRPr>
            </a:lvl1pPr>
          </a:lstStyle>
          <a:p>
            <a:pPr/>
            <a:r>
              <a:t>SUBSEROSAL</a:t>
            </a:r>
          </a:p>
        </p:txBody>
      </p:sp>
      <p:sp>
        <p:nvSpPr>
          <p:cNvPr id="126" name="Text 13"/>
          <p:cNvSpPr txBox="1"/>
          <p:nvPr/>
        </p:nvSpPr>
        <p:spPr>
          <a:xfrm>
            <a:off x="6099047" y="1993392"/>
            <a:ext cx="2487170" cy="9795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0D2B55"/>
                </a:solidFill>
              </a:defRPr>
            </a:lvl1pPr>
          </a:lstStyle>
          <a:p>
            <a:pPr/>
            <a:r>
              <a:t>Protrudes from the outer surface of the uterus. Can become pedunculated (on a stalk). May cause pelvic pressure and urinary symptoms.</a:t>
            </a:r>
          </a:p>
        </p:txBody>
      </p:sp>
      <p:sp>
        <p:nvSpPr>
          <p:cNvPr id="127" name="Text 14"/>
          <p:cNvSpPr txBox="1"/>
          <p:nvPr/>
        </p:nvSpPr>
        <p:spPr>
          <a:xfrm>
            <a:off x="365759" y="4850936"/>
            <a:ext cx="841248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888888"/>
                </a:solidFill>
              </a:defRPr>
            </a:lvl1pPr>
          </a:lstStyle>
          <a:p>
            <a:pPr/>
            <a:r>
              <a:t>Note: Fibroids vary in size from microscopic to filling the entire abdominal cavity. Size, number, and location determine symptom severity.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push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5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" name="Shape 1"/>
          <p:cNvSpPr/>
          <p:nvPr/>
        </p:nvSpPr>
        <p:spPr>
          <a:xfrm>
            <a:off x="0" y="-1"/>
            <a:ext cx="9144000" cy="777242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" name="Text 2"/>
          <p:cNvSpPr txBox="1"/>
          <p:nvPr/>
        </p:nvSpPr>
        <p:spPr>
          <a:xfrm>
            <a:off x="365759" y="260965"/>
            <a:ext cx="8412482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ANATOMY OF THE UTERUS</a:t>
            </a:r>
          </a:p>
        </p:txBody>
      </p:sp>
      <p:sp>
        <p:nvSpPr>
          <p:cNvPr id="132" name="Text 3"/>
          <p:cNvSpPr txBox="1"/>
          <p:nvPr/>
        </p:nvSpPr>
        <p:spPr>
          <a:xfrm>
            <a:off x="274320" y="4942840"/>
            <a:ext cx="8595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7EA8D4"/>
                </a:solidFill>
              </a:defRPr>
            </a:lvl1pPr>
          </a:lstStyle>
          <a:p>
            <a:pPr/>
            <a:r>
              <a:t>OGAGA RITA EMUOBOSA  |  CONPRN25088</a:t>
            </a:r>
          </a:p>
        </p:txBody>
      </p:sp>
      <p:sp>
        <p:nvSpPr>
          <p:cNvPr id="133" name="Text 4"/>
          <p:cNvSpPr txBox="1"/>
          <p:nvPr/>
        </p:nvSpPr>
        <p:spPr>
          <a:xfrm>
            <a:off x="365758" y="911159"/>
            <a:ext cx="4206244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7EA8D4"/>
                </a:solidFill>
              </a:defRPr>
            </a:lvl1pPr>
          </a:lstStyle>
          <a:p>
            <a:pPr/>
            <a:r>
              <a:t>PARTS OF THE UTERUS</a:t>
            </a:r>
          </a:p>
        </p:txBody>
      </p:sp>
      <p:sp>
        <p:nvSpPr>
          <p:cNvPr id="134" name="Text 5"/>
          <p:cNvSpPr txBox="1"/>
          <p:nvPr/>
        </p:nvSpPr>
        <p:spPr>
          <a:xfrm>
            <a:off x="365760" y="1188718"/>
            <a:ext cx="4251960" cy="2579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Fundus — the upper dome-shaped portion above the fallopian tube openings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Body (Corpus) — the main central part; site of most fibroid growth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Isthmus — the narrow junction between the body and the cervix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Cervix — the lower cylindrical portion that opens into the vagina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Fallopian Tubes — extend laterally from the uterine cornua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Ovaries — bilateral; produce estrogen and progesterone</a:t>
            </a:r>
          </a:p>
        </p:txBody>
      </p:sp>
      <p:sp>
        <p:nvSpPr>
          <p:cNvPr id="135" name="Text 6"/>
          <p:cNvSpPr txBox="1"/>
          <p:nvPr/>
        </p:nvSpPr>
        <p:spPr>
          <a:xfrm>
            <a:off x="4754879" y="911159"/>
            <a:ext cx="411480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7EA8D4"/>
                </a:solidFill>
              </a:defRPr>
            </a:lvl1pPr>
          </a:lstStyle>
          <a:p>
            <a:pPr/>
            <a:r>
              <a:t>LAYERS OF THE UTERINE WALL</a:t>
            </a:r>
          </a:p>
        </p:txBody>
      </p:sp>
      <p:sp>
        <p:nvSpPr>
          <p:cNvPr id="136" name="Shape 7"/>
          <p:cNvSpPr/>
          <p:nvPr/>
        </p:nvSpPr>
        <p:spPr>
          <a:xfrm>
            <a:off x="4754879" y="1188719"/>
            <a:ext cx="4114802" cy="1097282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" name="Text 8"/>
          <p:cNvSpPr txBox="1"/>
          <p:nvPr/>
        </p:nvSpPr>
        <p:spPr>
          <a:xfrm>
            <a:off x="4864608" y="1324795"/>
            <a:ext cx="388620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PERIMETRIUM</a:t>
            </a:r>
          </a:p>
        </p:txBody>
      </p:sp>
      <p:sp>
        <p:nvSpPr>
          <p:cNvPr id="138" name="Text 9"/>
          <p:cNvSpPr txBox="1"/>
          <p:nvPr/>
        </p:nvSpPr>
        <p:spPr>
          <a:xfrm>
            <a:off x="4864608" y="1554480"/>
            <a:ext cx="388620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E8EDF4"/>
                </a:solidFill>
              </a:defRPr>
            </a:lvl1pPr>
          </a:lstStyle>
          <a:p>
            <a:pPr/>
            <a:r>
              <a:t>Outer serous layer (peritoneum). Covers the uterus externally.</a:t>
            </a:r>
          </a:p>
        </p:txBody>
      </p:sp>
      <p:sp>
        <p:nvSpPr>
          <p:cNvPr id="139" name="Shape 10"/>
          <p:cNvSpPr/>
          <p:nvPr/>
        </p:nvSpPr>
        <p:spPr>
          <a:xfrm>
            <a:off x="4754879" y="2423160"/>
            <a:ext cx="4114802" cy="1097282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" name="Text 11"/>
          <p:cNvSpPr txBox="1"/>
          <p:nvPr/>
        </p:nvSpPr>
        <p:spPr>
          <a:xfrm>
            <a:off x="4864608" y="2559235"/>
            <a:ext cx="388620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MYOMETRIUM</a:t>
            </a:r>
          </a:p>
        </p:txBody>
      </p:sp>
      <p:sp>
        <p:nvSpPr>
          <p:cNvPr id="141" name="Text 12"/>
          <p:cNvSpPr txBox="1"/>
          <p:nvPr/>
        </p:nvSpPr>
        <p:spPr>
          <a:xfrm>
            <a:off x="4864608" y="2788920"/>
            <a:ext cx="3886202" cy="347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E8EDF4"/>
                </a:solidFill>
              </a:defRPr>
            </a:lvl1pPr>
          </a:lstStyle>
          <a:p>
            <a:pPr/>
            <a:r>
              <a:t>Middle thick muscular layer. Fibroids arise from this layer (smooth muscle cells — leiomyocytes).</a:t>
            </a:r>
          </a:p>
        </p:txBody>
      </p:sp>
      <p:sp>
        <p:nvSpPr>
          <p:cNvPr id="142" name="Shape 13"/>
          <p:cNvSpPr/>
          <p:nvPr/>
        </p:nvSpPr>
        <p:spPr>
          <a:xfrm>
            <a:off x="4754879" y="3657598"/>
            <a:ext cx="4114802" cy="1097283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" name="Text 14"/>
          <p:cNvSpPr txBox="1"/>
          <p:nvPr/>
        </p:nvSpPr>
        <p:spPr>
          <a:xfrm>
            <a:off x="4864608" y="3793675"/>
            <a:ext cx="388620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ENDOMETRIUM</a:t>
            </a:r>
          </a:p>
        </p:txBody>
      </p:sp>
      <p:sp>
        <p:nvSpPr>
          <p:cNvPr id="144" name="Text 15"/>
          <p:cNvSpPr txBox="1"/>
          <p:nvPr/>
        </p:nvSpPr>
        <p:spPr>
          <a:xfrm>
            <a:off x="4864608" y="4023359"/>
            <a:ext cx="3886202" cy="347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E8EDF4"/>
                </a:solidFill>
              </a:defRPr>
            </a:lvl1pPr>
          </a:lstStyle>
          <a:p>
            <a:pPr/>
            <a:r>
              <a:t>Inner mucosal layer. Shed during menstruation. Submucosal fibroids distort this layer causing menorrhagia.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push dir="l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" name="Text 2"/>
          <p:cNvSpPr txBox="1"/>
          <p:nvPr/>
        </p:nvSpPr>
        <p:spPr>
          <a:xfrm>
            <a:off x="365759" y="302113"/>
            <a:ext cx="8412482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PATHOPHYSIOLOGY OF UTERINE FIBROIDS</a:t>
            </a:r>
          </a:p>
        </p:txBody>
      </p:sp>
      <p:sp>
        <p:nvSpPr>
          <p:cNvPr id="149" name="Text 3"/>
          <p:cNvSpPr txBox="1"/>
          <p:nvPr/>
        </p:nvSpPr>
        <p:spPr>
          <a:xfrm>
            <a:off x="274320" y="4942840"/>
            <a:ext cx="8595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8899AA"/>
                </a:solidFill>
              </a:defRPr>
            </a:lvl1pPr>
          </a:lstStyle>
          <a:p>
            <a:pPr/>
            <a:r>
              <a:t>OGAGA RITA EMUOBOSA  |  CONPRN25088</a:t>
            </a:r>
          </a:p>
        </p:txBody>
      </p:sp>
      <p:sp>
        <p:nvSpPr>
          <p:cNvPr id="150" name="Shape 4"/>
          <p:cNvSpPr/>
          <p:nvPr/>
        </p:nvSpPr>
        <p:spPr>
          <a:xfrm>
            <a:off x="274319" y="987550"/>
            <a:ext cx="4114803" cy="1234443"/>
          </a:xfrm>
          <a:prstGeom prst="rect">
            <a:avLst/>
          </a:prstGeom>
          <a:solidFill>
            <a:srgbClr val="E8EDF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" name="Shape 5"/>
          <p:cNvSpPr/>
          <p:nvPr/>
        </p:nvSpPr>
        <p:spPr>
          <a:xfrm>
            <a:off x="274320" y="987550"/>
            <a:ext cx="438912" cy="1234443"/>
          </a:xfrm>
          <a:prstGeom prst="rect">
            <a:avLst/>
          </a:prstGeom>
          <a:solidFill>
            <a:srgbClr val="0D2B5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2" name="Text 6"/>
          <p:cNvSpPr txBox="1"/>
          <p:nvPr/>
        </p:nvSpPr>
        <p:spPr>
          <a:xfrm>
            <a:off x="274320" y="1480401"/>
            <a:ext cx="438912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53" name="Text 7"/>
          <p:cNvSpPr txBox="1"/>
          <p:nvPr/>
        </p:nvSpPr>
        <p:spPr>
          <a:xfrm>
            <a:off x="804670" y="1123625"/>
            <a:ext cx="347472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D2B55"/>
                </a:solidFill>
              </a:defRPr>
            </a:lvl1pPr>
          </a:lstStyle>
          <a:p>
            <a:pPr/>
            <a:r>
              <a:t>Initiation</a:t>
            </a:r>
          </a:p>
        </p:txBody>
      </p:sp>
      <p:sp>
        <p:nvSpPr>
          <p:cNvPr id="154" name="Text 8"/>
          <p:cNvSpPr txBox="1"/>
          <p:nvPr/>
        </p:nvSpPr>
        <p:spPr>
          <a:xfrm>
            <a:off x="804670" y="1371599"/>
            <a:ext cx="3474723" cy="537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0D2B55"/>
                </a:solidFill>
              </a:defRPr>
            </a:lvl1pPr>
          </a:lstStyle>
          <a:p>
            <a:pPr/>
            <a:r>
              <a:t>Mutation occurs in a single smooth muscle cell of the myometrium triggered by hormonal, genetic or environmental factors</a:t>
            </a:r>
          </a:p>
        </p:txBody>
      </p:sp>
      <p:sp>
        <p:nvSpPr>
          <p:cNvPr id="155" name="Shape 9"/>
          <p:cNvSpPr/>
          <p:nvPr/>
        </p:nvSpPr>
        <p:spPr>
          <a:xfrm>
            <a:off x="4663440" y="987550"/>
            <a:ext cx="4114802" cy="1234443"/>
          </a:xfrm>
          <a:prstGeom prst="rect">
            <a:avLst/>
          </a:prstGeom>
          <a:solidFill>
            <a:srgbClr val="E8EDF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6" name="Shape 10"/>
          <p:cNvSpPr/>
          <p:nvPr/>
        </p:nvSpPr>
        <p:spPr>
          <a:xfrm>
            <a:off x="4663440" y="987550"/>
            <a:ext cx="438914" cy="1234443"/>
          </a:xfrm>
          <a:prstGeom prst="rect">
            <a:avLst/>
          </a:prstGeom>
          <a:solidFill>
            <a:srgbClr val="0D2B5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" name="Text 11"/>
          <p:cNvSpPr txBox="1"/>
          <p:nvPr/>
        </p:nvSpPr>
        <p:spPr>
          <a:xfrm>
            <a:off x="4663440" y="1480401"/>
            <a:ext cx="438914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58" name="Text 12"/>
          <p:cNvSpPr txBox="1"/>
          <p:nvPr/>
        </p:nvSpPr>
        <p:spPr>
          <a:xfrm>
            <a:off x="5193791" y="1123625"/>
            <a:ext cx="347472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D2B55"/>
                </a:solidFill>
              </a:defRPr>
            </a:lvl1pPr>
          </a:lstStyle>
          <a:p>
            <a:pPr/>
            <a:r>
              <a:t>Hormonal Stimulation</a:t>
            </a:r>
          </a:p>
        </p:txBody>
      </p:sp>
      <p:sp>
        <p:nvSpPr>
          <p:cNvPr id="159" name="Text 13"/>
          <p:cNvSpPr txBox="1"/>
          <p:nvPr/>
        </p:nvSpPr>
        <p:spPr>
          <a:xfrm>
            <a:off x="5193791" y="1371599"/>
            <a:ext cx="3474721" cy="347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0D2B55"/>
                </a:solidFill>
              </a:defRPr>
            </a:lvl1pPr>
          </a:lstStyle>
          <a:p>
            <a:pPr/>
            <a:r>
              <a:t>Estrogen and progesterone stimulate proliferation of abnormal cells via growth factors (VEGF, TGF-β, EGF)</a:t>
            </a:r>
          </a:p>
        </p:txBody>
      </p:sp>
      <p:sp>
        <p:nvSpPr>
          <p:cNvPr id="160" name="Shape 14"/>
          <p:cNvSpPr/>
          <p:nvPr/>
        </p:nvSpPr>
        <p:spPr>
          <a:xfrm>
            <a:off x="274319" y="2331720"/>
            <a:ext cx="4114803" cy="1234442"/>
          </a:xfrm>
          <a:prstGeom prst="rect">
            <a:avLst/>
          </a:prstGeom>
          <a:solidFill>
            <a:srgbClr val="E8EDF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" name="Shape 15"/>
          <p:cNvSpPr/>
          <p:nvPr/>
        </p:nvSpPr>
        <p:spPr>
          <a:xfrm>
            <a:off x="274320" y="2331720"/>
            <a:ext cx="438912" cy="1234442"/>
          </a:xfrm>
          <a:prstGeom prst="rect">
            <a:avLst/>
          </a:prstGeom>
          <a:solidFill>
            <a:srgbClr val="0D2B5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" name="Text 16"/>
          <p:cNvSpPr txBox="1"/>
          <p:nvPr/>
        </p:nvSpPr>
        <p:spPr>
          <a:xfrm>
            <a:off x="274320" y="2824569"/>
            <a:ext cx="438912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63" name="Text 17"/>
          <p:cNvSpPr txBox="1"/>
          <p:nvPr/>
        </p:nvSpPr>
        <p:spPr>
          <a:xfrm>
            <a:off x="804670" y="2467794"/>
            <a:ext cx="347472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D2B55"/>
                </a:solidFill>
              </a:defRPr>
            </a:lvl1pPr>
          </a:lstStyle>
          <a:p>
            <a:pPr/>
            <a:r>
              <a:t>Clonal Expansion</a:t>
            </a:r>
          </a:p>
        </p:txBody>
      </p:sp>
      <p:sp>
        <p:nvSpPr>
          <p:cNvPr id="164" name="Text 18"/>
          <p:cNvSpPr txBox="1"/>
          <p:nvPr/>
        </p:nvSpPr>
        <p:spPr>
          <a:xfrm>
            <a:off x="804670" y="2715766"/>
            <a:ext cx="3474723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0D2B55"/>
                </a:solidFill>
              </a:defRPr>
            </a:lvl1pPr>
          </a:lstStyle>
          <a:p>
            <a:pPr/>
            <a:r>
              <a:t>The mutated cell divides repeatedly, forming a clonal tumor. Each fibroid arises from a single cell</a:t>
            </a:r>
          </a:p>
        </p:txBody>
      </p:sp>
      <p:sp>
        <p:nvSpPr>
          <p:cNvPr id="165" name="Shape 19"/>
          <p:cNvSpPr/>
          <p:nvPr/>
        </p:nvSpPr>
        <p:spPr>
          <a:xfrm>
            <a:off x="4663440" y="2331720"/>
            <a:ext cx="4114802" cy="1234442"/>
          </a:xfrm>
          <a:prstGeom prst="rect">
            <a:avLst/>
          </a:prstGeom>
          <a:solidFill>
            <a:srgbClr val="E8EDF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6" name="Shape 20"/>
          <p:cNvSpPr/>
          <p:nvPr/>
        </p:nvSpPr>
        <p:spPr>
          <a:xfrm>
            <a:off x="4663440" y="2331720"/>
            <a:ext cx="438914" cy="1234442"/>
          </a:xfrm>
          <a:prstGeom prst="rect">
            <a:avLst/>
          </a:prstGeom>
          <a:solidFill>
            <a:srgbClr val="0D2B5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" name="Text 21"/>
          <p:cNvSpPr txBox="1"/>
          <p:nvPr/>
        </p:nvSpPr>
        <p:spPr>
          <a:xfrm>
            <a:off x="4663440" y="2824569"/>
            <a:ext cx="438914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68" name="Text 22"/>
          <p:cNvSpPr txBox="1"/>
          <p:nvPr/>
        </p:nvSpPr>
        <p:spPr>
          <a:xfrm>
            <a:off x="5193791" y="2467794"/>
            <a:ext cx="347472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D2B55"/>
                </a:solidFill>
              </a:defRPr>
            </a:lvl1pPr>
          </a:lstStyle>
          <a:p>
            <a:pPr/>
            <a:r>
              <a:t>Extracellular Matrix Deposition</a:t>
            </a:r>
          </a:p>
        </p:txBody>
      </p:sp>
      <p:sp>
        <p:nvSpPr>
          <p:cNvPr id="169" name="Text 23"/>
          <p:cNvSpPr txBox="1"/>
          <p:nvPr/>
        </p:nvSpPr>
        <p:spPr>
          <a:xfrm>
            <a:off x="5193791" y="2715766"/>
            <a:ext cx="3474721" cy="53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0D2B55"/>
                </a:solidFill>
              </a:defRPr>
            </a:lvl1pPr>
          </a:lstStyle>
          <a:p>
            <a:pPr/>
            <a:r>
              <a:t>Excessive ECM (collagen, fibronectin) accumulates around fibroid cells, giving fibroids their firm, rubbery texture</a:t>
            </a:r>
          </a:p>
        </p:txBody>
      </p:sp>
      <p:sp>
        <p:nvSpPr>
          <p:cNvPr id="170" name="Shape 24"/>
          <p:cNvSpPr/>
          <p:nvPr/>
        </p:nvSpPr>
        <p:spPr>
          <a:xfrm>
            <a:off x="274319" y="3675888"/>
            <a:ext cx="4114803" cy="1234442"/>
          </a:xfrm>
          <a:prstGeom prst="rect">
            <a:avLst/>
          </a:prstGeom>
          <a:solidFill>
            <a:srgbClr val="E8EDF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" name="Shape 25"/>
          <p:cNvSpPr/>
          <p:nvPr/>
        </p:nvSpPr>
        <p:spPr>
          <a:xfrm>
            <a:off x="274320" y="3675888"/>
            <a:ext cx="438912" cy="1234442"/>
          </a:xfrm>
          <a:prstGeom prst="rect">
            <a:avLst/>
          </a:prstGeom>
          <a:solidFill>
            <a:srgbClr val="0D2B5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" name="Text 26"/>
          <p:cNvSpPr txBox="1"/>
          <p:nvPr/>
        </p:nvSpPr>
        <p:spPr>
          <a:xfrm>
            <a:off x="274320" y="4168737"/>
            <a:ext cx="438912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73" name="Text 27"/>
          <p:cNvSpPr txBox="1"/>
          <p:nvPr/>
        </p:nvSpPr>
        <p:spPr>
          <a:xfrm>
            <a:off x="804670" y="3811963"/>
            <a:ext cx="347472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D2B55"/>
                </a:solidFill>
              </a:defRPr>
            </a:lvl1pPr>
          </a:lstStyle>
          <a:p>
            <a:pPr/>
            <a:r>
              <a:t>Symptom Development</a:t>
            </a:r>
          </a:p>
        </p:txBody>
      </p:sp>
      <p:sp>
        <p:nvSpPr>
          <p:cNvPr id="174" name="Text 28"/>
          <p:cNvSpPr txBox="1"/>
          <p:nvPr/>
        </p:nvSpPr>
        <p:spPr>
          <a:xfrm>
            <a:off x="804670" y="4059935"/>
            <a:ext cx="3474723" cy="537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0D2B55"/>
                </a:solidFill>
              </a:defRPr>
            </a:lvl1pPr>
          </a:lstStyle>
          <a:p>
            <a:pPr/>
            <a:r>
              <a:t>As fibroids enlarge: uterine cavity distortion causes menorrhagia; pressure on bladder/bowel causes urinary and bowel symptoms</a:t>
            </a:r>
          </a:p>
        </p:txBody>
      </p:sp>
      <p:sp>
        <p:nvSpPr>
          <p:cNvPr id="175" name="Shape 29"/>
          <p:cNvSpPr/>
          <p:nvPr/>
        </p:nvSpPr>
        <p:spPr>
          <a:xfrm>
            <a:off x="4663440" y="3675888"/>
            <a:ext cx="4114802" cy="1234442"/>
          </a:xfrm>
          <a:prstGeom prst="rect">
            <a:avLst/>
          </a:prstGeom>
          <a:solidFill>
            <a:srgbClr val="E8EDF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" name="Shape 30"/>
          <p:cNvSpPr/>
          <p:nvPr/>
        </p:nvSpPr>
        <p:spPr>
          <a:xfrm>
            <a:off x="4663440" y="3675888"/>
            <a:ext cx="438914" cy="1234442"/>
          </a:xfrm>
          <a:prstGeom prst="rect">
            <a:avLst/>
          </a:prstGeom>
          <a:solidFill>
            <a:srgbClr val="0D2B5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" name="Text 31"/>
          <p:cNvSpPr txBox="1"/>
          <p:nvPr/>
        </p:nvSpPr>
        <p:spPr>
          <a:xfrm>
            <a:off x="4663440" y="4168737"/>
            <a:ext cx="438914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78" name="Text 32"/>
          <p:cNvSpPr txBox="1"/>
          <p:nvPr/>
        </p:nvSpPr>
        <p:spPr>
          <a:xfrm>
            <a:off x="5193791" y="3811963"/>
            <a:ext cx="347472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D2B55"/>
                </a:solidFill>
              </a:defRPr>
            </a:lvl1pPr>
          </a:lstStyle>
          <a:p>
            <a:pPr/>
            <a:r>
              <a:t>Post-Menopausal Regression</a:t>
            </a:r>
          </a:p>
        </p:txBody>
      </p:sp>
      <p:sp>
        <p:nvSpPr>
          <p:cNvPr id="179" name="Text 33"/>
          <p:cNvSpPr txBox="1"/>
          <p:nvPr/>
        </p:nvSpPr>
        <p:spPr>
          <a:xfrm>
            <a:off x="5193791" y="4059935"/>
            <a:ext cx="3474721" cy="347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0D2B55"/>
                </a:solidFill>
              </a:defRPr>
            </a:lvl1pPr>
          </a:lstStyle>
          <a:p>
            <a:pPr/>
            <a:r>
              <a:t>Fibroids shrink after menopause as estrogen and progesterone levels decline significantly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push dir="l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5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" name="Shape 1"/>
          <p:cNvSpPr/>
          <p:nvPr/>
        </p:nvSpPr>
        <p:spPr>
          <a:xfrm>
            <a:off x="0" y="-1"/>
            <a:ext cx="9144000" cy="777242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" name="Text 2"/>
          <p:cNvSpPr txBox="1"/>
          <p:nvPr/>
        </p:nvSpPr>
        <p:spPr>
          <a:xfrm>
            <a:off x="365759" y="260965"/>
            <a:ext cx="8412482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GLOBAL INCIDENCE &amp; BURDEN</a:t>
            </a:r>
          </a:p>
        </p:txBody>
      </p:sp>
      <p:sp>
        <p:nvSpPr>
          <p:cNvPr id="184" name="Text 3"/>
          <p:cNvSpPr txBox="1"/>
          <p:nvPr/>
        </p:nvSpPr>
        <p:spPr>
          <a:xfrm>
            <a:off x="274320" y="4942840"/>
            <a:ext cx="8595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7EA8D4"/>
                </a:solidFill>
              </a:defRPr>
            </a:lvl1pPr>
          </a:lstStyle>
          <a:p>
            <a:pPr/>
            <a:r>
              <a:t>OGAGA RITA EMUOBOSA  |  CONPRN25088</a:t>
            </a:r>
          </a:p>
        </p:txBody>
      </p:sp>
      <p:sp>
        <p:nvSpPr>
          <p:cNvPr id="185" name="Shape 4"/>
          <p:cNvSpPr/>
          <p:nvPr/>
        </p:nvSpPr>
        <p:spPr>
          <a:xfrm>
            <a:off x="320039" y="896111"/>
            <a:ext cx="1965962" cy="1325881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6" name="Text 5"/>
          <p:cNvSpPr txBox="1"/>
          <p:nvPr/>
        </p:nvSpPr>
        <p:spPr>
          <a:xfrm>
            <a:off x="393191" y="1106784"/>
            <a:ext cx="1828801" cy="301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20–80%</a:t>
            </a:r>
          </a:p>
        </p:txBody>
      </p:sp>
      <p:sp>
        <p:nvSpPr>
          <p:cNvPr id="187" name="Text 6"/>
          <p:cNvSpPr txBox="1"/>
          <p:nvPr/>
        </p:nvSpPr>
        <p:spPr>
          <a:xfrm>
            <a:off x="393191" y="1554480"/>
            <a:ext cx="182880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100">
                <a:solidFill>
                  <a:srgbClr val="E8EDF4"/>
                </a:solidFill>
              </a:defRPr>
            </a:lvl1pPr>
          </a:lstStyle>
          <a:p>
            <a:pPr/>
            <a:r>
              <a:t>of women develop fibroids by age 50</a:t>
            </a:r>
          </a:p>
        </p:txBody>
      </p:sp>
      <p:sp>
        <p:nvSpPr>
          <p:cNvPr id="188" name="Shape 7"/>
          <p:cNvSpPr/>
          <p:nvPr/>
        </p:nvSpPr>
        <p:spPr>
          <a:xfrm>
            <a:off x="2468878" y="896111"/>
            <a:ext cx="1965962" cy="1325881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" name="Text 8"/>
          <p:cNvSpPr txBox="1"/>
          <p:nvPr/>
        </p:nvSpPr>
        <p:spPr>
          <a:xfrm>
            <a:off x="2542032" y="1106784"/>
            <a:ext cx="1828802" cy="301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171M</a:t>
            </a:r>
          </a:p>
        </p:txBody>
      </p:sp>
      <p:sp>
        <p:nvSpPr>
          <p:cNvPr id="190" name="Text 9"/>
          <p:cNvSpPr txBox="1"/>
          <p:nvPr/>
        </p:nvSpPr>
        <p:spPr>
          <a:xfrm>
            <a:off x="2542032" y="1554480"/>
            <a:ext cx="1828802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100">
                <a:solidFill>
                  <a:srgbClr val="E8EDF4"/>
                </a:solidFill>
              </a:defRPr>
            </a:lvl1pPr>
          </a:lstStyle>
          <a:p>
            <a:pPr/>
            <a:r>
              <a:t>women affected globally (2013 estimate)</a:t>
            </a:r>
          </a:p>
        </p:txBody>
      </p:sp>
      <p:sp>
        <p:nvSpPr>
          <p:cNvPr id="191" name="Shape 10"/>
          <p:cNvSpPr/>
          <p:nvPr/>
        </p:nvSpPr>
        <p:spPr>
          <a:xfrm>
            <a:off x="4617720" y="896111"/>
            <a:ext cx="1965962" cy="1325881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2" name="Text 11"/>
          <p:cNvSpPr txBox="1"/>
          <p:nvPr/>
        </p:nvSpPr>
        <p:spPr>
          <a:xfrm>
            <a:off x="4690871" y="1106784"/>
            <a:ext cx="1828802" cy="301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30%</a:t>
            </a:r>
          </a:p>
        </p:txBody>
      </p:sp>
      <p:sp>
        <p:nvSpPr>
          <p:cNvPr id="193" name="Text 12"/>
          <p:cNvSpPr txBox="1"/>
          <p:nvPr/>
        </p:nvSpPr>
        <p:spPr>
          <a:xfrm>
            <a:off x="4690871" y="1554480"/>
            <a:ext cx="1828802" cy="464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100">
                <a:solidFill>
                  <a:srgbClr val="E8EDF4"/>
                </a:solidFill>
              </a:defRPr>
            </a:lvl1pPr>
          </a:lstStyle>
          <a:p>
            <a:pPr/>
            <a:r>
              <a:t>of women with fibroids experience significant symptoms</a:t>
            </a:r>
          </a:p>
        </p:txBody>
      </p:sp>
      <p:sp>
        <p:nvSpPr>
          <p:cNvPr id="194" name="Shape 13"/>
          <p:cNvSpPr/>
          <p:nvPr/>
        </p:nvSpPr>
        <p:spPr>
          <a:xfrm>
            <a:off x="6766559" y="896111"/>
            <a:ext cx="1965962" cy="1325881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" name="Text 14"/>
          <p:cNvSpPr txBox="1"/>
          <p:nvPr/>
        </p:nvSpPr>
        <p:spPr>
          <a:xfrm>
            <a:off x="6839711" y="1106784"/>
            <a:ext cx="1828802" cy="301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70%</a:t>
            </a:r>
          </a:p>
        </p:txBody>
      </p:sp>
      <p:sp>
        <p:nvSpPr>
          <p:cNvPr id="196" name="Text 15"/>
          <p:cNvSpPr txBox="1"/>
          <p:nvPr/>
        </p:nvSpPr>
        <p:spPr>
          <a:xfrm>
            <a:off x="6839711" y="1554480"/>
            <a:ext cx="1828802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100">
                <a:solidFill>
                  <a:srgbClr val="E8EDF4"/>
                </a:solidFill>
              </a:defRPr>
            </a:lvl1pPr>
          </a:lstStyle>
          <a:p>
            <a:pPr/>
            <a:r>
              <a:t>report menorrhagia as primary complaint</a:t>
            </a:r>
          </a:p>
        </p:txBody>
      </p:sp>
      <p:sp>
        <p:nvSpPr>
          <p:cNvPr id="197" name="Text 16"/>
          <p:cNvSpPr txBox="1"/>
          <p:nvPr/>
        </p:nvSpPr>
        <p:spPr>
          <a:xfrm>
            <a:off x="365759" y="2430465"/>
            <a:ext cx="841248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7EA8D4"/>
                </a:solidFill>
              </a:defRPr>
            </a:lvl1pPr>
          </a:lstStyle>
          <a:p>
            <a:pPr/>
            <a:r>
              <a:t>KEY EPIDEMIOLOGICAL FACTS</a:t>
            </a:r>
          </a:p>
        </p:txBody>
      </p:sp>
      <p:sp>
        <p:nvSpPr>
          <p:cNvPr id="198" name="Text 17"/>
          <p:cNvSpPr txBox="1"/>
          <p:nvPr/>
        </p:nvSpPr>
        <p:spPr>
          <a:xfrm>
            <a:off x="365759" y="2697478"/>
            <a:ext cx="8412482" cy="1649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500"/>
              </a:spcBef>
              <a:buSzPct val="100000"/>
              <a:buChar char="•"/>
              <a:defRPr sz="1400">
                <a:solidFill>
                  <a:srgbClr val="FFFFFF"/>
                </a:solidFill>
              </a:defRPr>
            </a:pPr>
            <a:r>
              <a:t>The incidence of uterine fibroids is significantly higher in Black women than in White women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400">
                <a:solidFill>
                  <a:srgbClr val="FFFFFF"/>
                </a:solidFill>
              </a:defRPr>
            </a:pPr>
            <a:r>
              <a:t>Tumors are rare before the age of 20 years old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400">
                <a:solidFill>
                  <a:srgbClr val="FFFFFF"/>
                </a:solidFill>
              </a:defRPr>
            </a:pPr>
            <a:r>
              <a:t>Fibroids rarely occur before menarche and tend to disappear after menopause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400">
                <a:solidFill>
                  <a:srgbClr val="FFFFFF"/>
                </a:solidFill>
              </a:defRPr>
            </a:pPr>
            <a:r>
              <a:t>Most commonly seen in nulliparous women and women with secondary infertility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400">
                <a:solidFill>
                  <a:srgbClr val="FFFFFF"/>
                </a:solidFill>
              </a:defRPr>
            </a:pPr>
            <a:r>
              <a:t>The burden of fibroids is most pronounced in women aged 35–50 years (late reproductive years)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400">
                <a:solidFill>
                  <a:srgbClr val="FFFFFF"/>
                </a:solidFill>
              </a:defRPr>
            </a:pPr>
            <a:r>
              <a:t>In 2013, an estimated 171 million women were affected by uterine fibroids worldwide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push dir="l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" name="Text 2"/>
          <p:cNvSpPr txBox="1"/>
          <p:nvPr/>
        </p:nvSpPr>
        <p:spPr>
          <a:xfrm>
            <a:off x="365759" y="302113"/>
            <a:ext cx="8412482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CHAPTER 3: PATIENT BIODATA &amp; HISTORY</a:t>
            </a:r>
          </a:p>
        </p:txBody>
      </p:sp>
      <p:sp>
        <p:nvSpPr>
          <p:cNvPr id="203" name="Text 3"/>
          <p:cNvSpPr txBox="1"/>
          <p:nvPr/>
        </p:nvSpPr>
        <p:spPr>
          <a:xfrm>
            <a:off x="274320" y="4942840"/>
            <a:ext cx="8595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8899AA"/>
                </a:solidFill>
              </a:defRPr>
            </a:lvl1pPr>
          </a:lstStyle>
          <a:p>
            <a:pPr/>
            <a:r>
              <a:t>OGAGA RITA EMUOBOSA  |  CONPRN25088</a:t>
            </a:r>
          </a:p>
        </p:txBody>
      </p:sp>
      <p:sp>
        <p:nvSpPr>
          <p:cNvPr id="204" name="Shape 4"/>
          <p:cNvSpPr/>
          <p:nvPr/>
        </p:nvSpPr>
        <p:spPr>
          <a:xfrm>
            <a:off x="320040" y="987550"/>
            <a:ext cx="4297680" cy="3977644"/>
          </a:xfrm>
          <a:prstGeom prst="rect">
            <a:avLst/>
          </a:prstGeom>
          <a:solidFill>
            <a:srgbClr val="0D2B5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5" name="Text 5"/>
          <p:cNvSpPr txBox="1"/>
          <p:nvPr/>
        </p:nvSpPr>
        <p:spPr>
          <a:xfrm>
            <a:off x="411479" y="1103184"/>
            <a:ext cx="411480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7EA8D4"/>
                </a:solidFill>
              </a:defRPr>
            </a:lvl1pPr>
          </a:lstStyle>
          <a:p>
            <a:pPr/>
            <a:r>
              <a:t>PATIENT BIODATA</a:t>
            </a:r>
          </a:p>
        </p:txBody>
      </p:sp>
      <p:sp>
        <p:nvSpPr>
          <p:cNvPr id="206" name="Text 6"/>
          <p:cNvSpPr txBox="1"/>
          <p:nvPr/>
        </p:nvSpPr>
        <p:spPr>
          <a:xfrm>
            <a:off x="411479" y="1371599"/>
            <a:ext cx="4114803" cy="2900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Name: Mrs M.J.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Age: 46 years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Sex: Female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Parity: Multiparous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Occupation: Civil Servant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Religion: Christian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Nationality: Nigerian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Hospital: UBTH, Benin City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Ward: A2 (Female Gynaecological)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Consultant: Prof. Osai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Date of Admission: 4th March 2026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Date of Surgery: 9th March 2026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Date of Discharge: 17th March 2026</a:t>
            </a:r>
          </a:p>
        </p:txBody>
      </p:sp>
      <p:sp>
        <p:nvSpPr>
          <p:cNvPr id="207" name="Text 7"/>
          <p:cNvSpPr txBox="1"/>
          <p:nvPr/>
        </p:nvSpPr>
        <p:spPr>
          <a:xfrm>
            <a:off x="4754879" y="1039176"/>
            <a:ext cx="4114802" cy="18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D2B55"/>
                </a:solidFill>
              </a:defRPr>
            </a:lvl1pPr>
          </a:lstStyle>
          <a:p>
            <a:pPr/>
            <a:r>
              <a:t>PATIENT HISTORY</a:t>
            </a:r>
          </a:p>
        </p:txBody>
      </p:sp>
      <p:sp>
        <p:nvSpPr>
          <p:cNvPr id="208" name="Text 8"/>
          <p:cNvSpPr txBox="1"/>
          <p:nvPr/>
        </p:nvSpPr>
        <p:spPr>
          <a:xfrm>
            <a:off x="4754879" y="1370514"/>
            <a:ext cx="411480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D2B55"/>
                </a:solidFill>
              </a:defRPr>
            </a:lvl1pPr>
          </a:lstStyle>
          <a:p>
            <a:pPr/>
            <a:r>
              <a:t>PRESENTING COMPLAINTS:</a:t>
            </a:r>
          </a:p>
        </p:txBody>
      </p:sp>
      <p:sp>
        <p:nvSpPr>
          <p:cNvPr id="209" name="Text 9"/>
          <p:cNvSpPr txBox="1"/>
          <p:nvPr/>
        </p:nvSpPr>
        <p:spPr>
          <a:xfrm>
            <a:off x="4754879" y="1600199"/>
            <a:ext cx="4114802" cy="89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300"/>
              </a:spcBef>
              <a:buSzPct val="100000"/>
              <a:buChar char="•"/>
              <a:defRPr sz="1300">
                <a:solidFill>
                  <a:srgbClr val="0D2B55"/>
                </a:solidFill>
              </a:defRPr>
            </a:pPr>
            <a:r>
              <a:t>Abdominal enlargement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1300">
                <a:solidFill>
                  <a:srgbClr val="0D2B55"/>
                </a:solidFill>
              </a:defRPr>
            </a:pPr>
            <a:r>
              <a:t>Heavy menstrual bleeding (menorrhagia)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1300">
                <a:solidFill>
                  <a:srgbClr val="0D2B55"/>
                </a:solidFill>
              </a:defRPr>
            </a:pPr>
            <a:r>
              <a:t>Pelvic pain and discomfort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1300">
                <a:solidFill>
                  <a:srgbClr val="0D2B55"/>
                </a:solidFill>
              </a:defRPr>
            </a:pPr>
            <a:r>
              <a:t>Weakness and fatigue</a:t>
            </a:r>
          </a:p>
        </p:txBody>
      </p:sp>
      <p:sp>
        <p:nvSpPr>
          <p:cNvPr id="210" name="Text 10"/>
          <p:cNvSpPr txBox="1"/>
          <p:nvPr/>
        </p:nvSpPr>
        <p:spPr>
          <a:xfrm>
            <a:off x="4754879" y="2696394"/>
            <a:ext cx="411480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D2B55"/>
                </a:solidFill>
              </a:defRPr>
            </a:lvl1pPr>
          </a:lstStyle>
          <a:p>
            <a:pPr/>
            <a:r>
              <a:t>PAST HISTORY:</a:t>
            </a:r>
          </a:p>
        </p:txBody>
      </p:sp>
      <p:sp>
        <p:nvSpPr>
          <p:cNvPr id="211" name="Text 11"/>
          <p:cNvSpPr txBox="1"/>
          <p:nvPr/>
        </p:nvSpPr>
        <p:spPr>
          <a:xfrm>
            <a:off x="4754879" y="2926078"/>
            <a:ext cx="4114802" cy="649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300"/>
              </a:spcBef>
              <a:buSzPct val="100000"/>
              <a:buChar char="•"/>
              <a:defRPr sz="1300">
                <a:solidFill>
                  <a:srgbClr val="0D2B55"/>
                </a:solidFill>
              </a:defRPr>
            </a:pPr>
            <a:r>
              <a:t>No previous surgical history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1300">
                <a:solidFill>
                  <a:srgbClr val="0D2B55"/>
                </a:solidFill>
              </a:defRPr>
            </a:pPr>
            <a:r>
              <a:t>No known drug allergy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1300">
                <a:solidFill>
                  <a:srgbClr val="0D2B55"/>
                </a:solidFill>
              </a:defRPr>
            </a:pPr>
            <a:r>
              <a:t>No significant medical history</a:t>
            </a:r>
          </a:p>
        </p:txBody>
      </p:sp>
      <p:sp>
        <p:nvSpPr>
          <p:cNvPr id="212" name="Text 12"/>
          <p:cNvSpPr txBox="1"/>
          <p:nvPr/>
        </p:nvSpPr>
        <p:spPr>
          <a:xfrm>
            <a:off x="4754879" y="3793675"/>
            <a:ext cx="411480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D2B55"/>
                </a:solidFill>
              </a:defRPr>
            </a:lvl1pPr>
          </a:lstStyle>
          <a:p>
            <a:pPr/>
            <a:r>
              <a:t>FAMILY HISTORY:</a:t>
            </a:r>
          </a:p>
        </p:txBody>
      </p:sp>
      <p:sp>
        <p:nvSpPr>
          <p:cNvPr id="213" name="Text 13"/>
          <p:cNvSpPr txBox="1"/>
          <p:nvPr/>
        </p:nvSpPr>
        <p:spPr>
          <a:xfrm>
            <a:off x="4754879" y="4023359"/>
            <a:ext cx="4114802" cy="4080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300"/>
              </a:spcBef>
              <a:buSzPct val="100000"/>
              <a:buChar char="•"/>
              <a:defRPr sz="1300">
                <a:solidFill>
                  <a:srgbClr val="0D2B55"/>
                </a:solidFill>
              </a:defRPr>
            </a:pPr>
            <a:r>
              <a:t>Family history of uterine fibroids reported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1300">
                <a:solidFill>
                  <a:srgbClr val="0D2B55"/>
                </a:solidFill>
              </a:defRPr>
            </a:pPr>
            <a:r>
              <a:t>No family history of malignancy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push dir="l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5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6" name="Shape 1"/>
          <p:cNvSpPr/>
          <p:nvPr/>
        </p:nvSpPr>
        <p:spPr>
          <a:xfrm>
            <a:off x="0" y="-1"/>
            <a:ext cx="9144000" cy="777242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7" name="Text 2"/>
          <p:cNvSpPr txBox="1"/>
          <p:nvPr/>
        </p:nvSpPr>
        <p:spPr>
          <a:xfrm>
            <a:off x="365759" y="260965"/>
            <a:ext cx="8412482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FUNCTIONAL HEALTH PATTERNS (GORDON'S 11 PATTERNS)</a:t>
            </a:r>
          </a:p>
        </p:txBody>
      </p:sp>
      <p:sp>
        <p:nvSpPr>
          <p:cNvPr id="218" name="Text 3"/>
          <p:cNvSpPr txBox="1"/>
          <p:nvPr/>
        </p:nvSpPr>
        <p:spPr>
          <a:xfrm>
            <a:off x="274320" y="4942840"/>
            <a:ext cx="8595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7EA8D4"/>
                </a:solidFill>
              </a:defRPr>
            </a:lvl1pPr>
          </a:lstStyle>
          <a:p>
            <a:pPr/>
            <a:r>
              <a:t>OGAGA RITA EMUOBOSA  |  CONPRN25088</a:t>
            </a:r>
          </a:p>
        </p:txBody>
      </p:sp>
      <p:sp>
        <p:nvSpPr>
          <p:cNvPr id="219" name="Shape 4"/>
          <p:cNvSpPr/>
          <p:nvPr/>
        </p:nvSpPr>
        <p:spPr>
          <a:xfrm>
            <a:off x="320038" y="841247"/>
            <a:ext cx="4160523" cy="621794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0" name="Text 5"/>
          <p:cNvSpPr txBox="1"/>
          <p:nvPr/>
        </p:nvSpPr>
        <p:spPr>
          <a:xfrm>
            <a:off x="411479" y="947849"/>
            <a:ext cx="137160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C8DCF0"/>
                </a:solidFill>
              </a:defRPr>
            </a:lvl1pPr>
          </a:lstStyle>
          <a:p>
            <a:pPr/>
            <a:r>
              <a:t>Health Perception</a:t>
            </a:r>
          </a:p>
        </p:txBody>
      </p:sp>
      <p:sp>
        <p:nvSpPr>
          <p:cNvPr id="221" name="Text 6"/>
          <p:cNvSpPr txBox="1"/>
          <p:nvPr/>
        </p:nvSpPr>
        <p:spPr>
          <a:xfrm>
            <a:off x="411478" y="1133855"/>
            <a:ext cx="3931924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Patient aware of diagnosis; sought care promptly at UBTH</a:t>
            </a:r>
          </a:p>
        </p:txBody>
      </p:sp>
      <p:sp>
        <p:nvSpPr>
          <p:cNvPr id="222" name="Shape 7"/>
          <p:cNvSpPr/>
          <p:nvPr/>
        </p:nvSpPr>
        <p:spPr>
          <a:xfrm>
            <a:off x="320038" y="1545336"/>
            <a:ext cx="4160523" cy="621792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" name="Text 8"/>
          <p:cNvSpPr txBox="1"/>
          <p:nvPr/>
        </p:nvSpPr>
        <p:spPr>
          <a:xfrm>
            <a:off x="411479" y="1569388"/>
            <a:ext cx="1371603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C8DCF0"/>
                </a:solidFill>
              </a:defRPr>
            </a:lvl1pPr>
          </a:lstStyle>
          <a:p>
            <a:pPr/>
            <a:r>
              <a:t>Nutrition &amp; Metabolism</a:t>
            </a:r>
          </a:p>
        </p:txBody>
      </p:sp>
      <p:sp>
        <p:nvSpPr>
          <p:cNvPr id="224" name="Text 9"/>
          <p:cNvSpPr txBox="1"/>
          <p:nvPr/>
        </p:nvSpPr>
        <p:spPr>
          <a:xfrm>
            <a:off x="411478" y="1837944"/>
            <a:ext cx="3931924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Adequate diet; instructed on iron-rich foods post-operatively</a:t>
            </a:r>
          </a:p>
        </p:txBody>
      </p:sp>
      <p:sp>
        <p:nvSpPr>
          <p:cNvPr id="225" name="Shape 10"/>
          <p:cNvSpPr/>
          <p:nvPr/>
        </p:nvSpPr>
        <p:spPr>
          <a:xfrm>
            <a:off x="320038" y="2249422"/>
            <a:ext cx="4160523" cy="621794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6" name="Text 11"/>
          <p:cNvSpPr txBox="1"/>
          <p:nvPr/>
        </p:nvSpPr>
        <p:spPr>
          <a:xfrm>
            <a:off x="411479" y="2356025"/>
            <a:ext cx="137160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C8DCF0"/>
                </a:solidFill>
              </a:defRPr>
            </a:lvl1pPr>
          </a:lstStyle>
          <a:p>
            <a:pPr/>
            <a:r>
              <a:t>Elimination</a:t>
            </a:r>
          </a:p>
        </p:txBody>
      </p:sp>
      <p:sp>
        <p:nvSpPr>
          <p:cNvPr id="227" name="Text 12"/>
          <p:cNvSpPr txBox="1"/>
          <p:nvPr/>
        </p:nvSpPr>
        <p:spPr>
          <a:xfrm>
            <a:off x="411478" y="2542032"/>
            <a:ext cx="3931924" cy="347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Normal bowel and urinary elimination; catheterized post-operatively</a:t>
            </a:r>
          </a:p>
        </p:txBody>
      </p:sp>
      <p:sp>
        <p:nvSpPr>
          <p:cNvPr id="228" name="Shape 13"/>
          <p:cNvSpPr/>
          <p:nvPr/>
        </p:nvSpPr>
        <p:spPr>
          <a:xfrm>
            <a:off x="320038" y="2953510"/>
            <a:ext cx="4160523" cy="621795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" name="Text 14"/>
          <p:cNvSpPr txBox="1"/>
          <p:nvPr/>
        </p:nvSpPr>
        <p:spPr>
          <a:xfrm>
            <a:off x="411479" y="3060113"/>
            <a:ext cx="137160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C8DCF0"/>
                </a:solidFill>
              </a:defRPr>
            </a:lvl1pPr>
          </a:lstStyle>
          <a:p>
            <a:pPr/>
            <a:r>
              <a:t>Activity &amp; Exercise</a:t>
            </a:r>
          </a:p>
        </p:txBody>
      </p:sp>
      <p:sp>
        <p:nvSpPr>
          <p:cNvPr id="230" name="Text 15"/>
          <p:cNvSpPr txBox="1"/>
          <p:nvPr/>
        </p:nvSpPr>
        <p:spPr>
          <a:xfrm>
            <a:off x="411478" y="3246120"/>
            <a:ext cx="3931924" cy="347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Civil servant; limited activity post-op; encouraged early ambulation</a:t>
            </a:r>
          </a:p>
        </p:txBody>
      </p:sp>
      <p:sp>
        <p:nvSpPr>
          <p:cNvPr id="231" name="Shape 16"/>
          <p:cNvSpPr/>
          <p:nvPr/>
        </p:nvSpPr>
        <p:spPr>
          <a:xfrm>
            <a:off x="320038" y="3657600"/>
            <a:ext cx="4160523" cy="621792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2" name="Text 17"/>
          <p:cNvSpPr txBox="1"/>
          <p:nvPr/>
        </p:nvSpPr>
        <p:spPr>
          <a:xfrm>
            <a:off x="411479" y="3764202"/>
            <a:ext cx="137160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C8DCF0"/>
                </a:solidFill>
              </a:defRPr>
            </a:lvl1pPr>
          </a:lstStyle>
          <a:p>
            <a:pPr/>
            <a:r>
              <a:t>Sleep &amp; Rest</a:t>
            </a:r>
          </a:p>
        </p:txBody>
      </p:sp>
      <p:sp>
        <p:nvSpPr>
          <p:cNvPr id="233" name="Text 18"/>
          <p:cNvSpPr txBox="1"/>
          <p:nvPr/>
        </p:nvSpPr>
        <p:spPr>
          <a:xfrm>
            <a:off x="411478" y="3950208"/>
            <a:ext cx="3931924" cy="347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Sleep disturbed pre-op by pelvic pain; improved post-operatively</a:t>
            </a:r>
          </a:p>
        </p:txBody>
      </p:sp>
      <p:sp>
        <p:nvSpPr>
          <p:cNvPr id="234" name="Shape 19"/>
          <p:cNvSpPr/>
          <p:nvPr/>
        </p:nvSpPr>
        <p:spPr>
          <a:xfrm>
            <a:off x="320038" y="4361688"/>
            <a:ext cx="4160523" cy="621794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5" name="Text 20"/>
          <p:cNvSpPr txBox="1"/>
          <p:nvPr/>
        </p:nvSpPr>
        <p:spPr>
          <a:xfrm>
            <a:off x="411479" y="4468290"/>
            <a:ext cx="137160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C8DCF0"/>
                </a:solidFill>
              </a:defRPr>
            </a:lvl1pPr>
          </a:lstStyle>
          <a:p>
            <a:pPr/>
            <a:r>
              <a:t>Cognitive &amp; Perception</a:t>
            </a:r>
          </a:p>
        </p:txBody>
      </p:sp>
      <p:sp>
        <p:nvSpPr>
          <p:cNvPr id="236" name="Text 21"/>
          <p:cNvSpPr txBox="1"/>
          <p:nvPr/>
        </p:nvSpPr>
        <p:spPr>
          <a:xfrm>
            <a:off x="411478" y="4654296"/>
            <a:ext cx="3931924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Alert and oriented; able to understand health education given</a:t>
            </a:r>
          </a:p>
        </p:txBody>
      </p:sp>
      <p:sp>
        <p:nvSpPr>
          <p:cNvPr id="237" name="Shape 22"/>
          <p:cNvSpPr/>
          <p:nvPr/>
        </p:nvSpPr>
        <p:spPr>
          <a:xfrm>
            <a:off x="4754879" y="841247"/>
            <a:ext cx="4160521" cy="621794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8" name="Text 23"/>
          <p:cNvSpPr txBox="1"/>
          <p:nvPr/>
        </p:nvSpPr>
        <p:spPr>
          <a:xfrm>
            <a:off x="4846320" y="947849"/>
            <a:ext cx="137160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C8DCF0"/>
                </a:solidFill>
              </a:defRPr>
            </a:lvl1pPr>
          </a:lstStyle>
          <a:p>
            <a:pPr/>
            <a:r>
              <a:t>Self-Perception</a:t>
            </a:r>
          </a:p>
        </p:txBody>
      </p:sp>
      <p:sp>
        <p:nvSpPr>
          <p:cNvPr id="239" name="Text 24"/>
          <p:cNvSpPr txBox="1"/>
          <p:nvPr/>
        </p:nvSpPr>
        <p:spPr>
          <a:xfrm>
            <a:off x="4846320" y="1133855"/>
            <a:ext cx="393192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Anxious about surgery; reassured and emotionally supported</a:t>
            </a:r>
          </a:p>
        </p:txBody>
      </p:sp>
      <p:sp>
        <p:nvSpPr>
          <p:cNvPr id="240" name="Shape 25"/>
          <p:cNvSpPr/>
          <p:nvPr/>
        </p:nvSpPr>
        <p:spPr>
          <a:xfrm>
            <a:off x="4754879" y="1545336"/>
            <a:ext cx="4160521" cy="621792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" name="Text 26"/>
          <p:cNvSpPr txBox="1"/>
          <p:nvPr/>
        </p:nvSpPr>
        <p:spPr>
          <a:xfrm>
            <a:off x="4846320" y="1651937"/>
            <a:ext cx="137160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C8DCF0"/>
                </a:solidFill>
              </a:defRPr>
            </a:lvl1pPr>
          </a:lstStyle>
          <a:p>
            <a:pPr/>
            <a:r>
              <a:t>Role &amp; Relationship</a:t>
            </a:r>
          </a:p>
        </p:txBody>
      </p:sp>
      <p:sp>
        <p:nvSpPr>
          <p:cNvPr id="242" name="Text 27"/>
          <p:cNvSpPr txBox="1"/>
          <p:nvPr/>
        </p:nvSpPr>
        <p:spPr>
          <a:xfrm>
            <a:off x="4846320" y="1837944"/>
            <a:ext cx="3931921" cy="347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Married; supportive husband and relatives accompanied on admission</a:t>
            </a:r>
          </a:p>
        </p:txBody>
      </p:sp>
      <p:sp>
        <p:nvSpPr>
          <p:cNvPr id="243" name="Shape 28"/>
          <p:cNvSpPr/>
          <p:nvPr/>
        </p:nvSpPr>
        <p:spPr>
          <a:xfrm>
            <a:off x="4754879" y="2249422"/>
            <a:ext cx="4160521" cy="621794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4" name="Text 29"/>
          <p:cNvSpPr txBox="1"/>
          <p:nvPr/>
        </p:nvSpPr>
        <p:spPr>
          <a:xfrm>
            <a:off x="4846320" y="2273475"/>
            <a:ext cx="1371602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C8DCF0"/>
                </a:solidFill>
              </a:defRPr>
            </a:lvl1pPr>
          </a:lstStyle>
          <a:p>
            <a:pPr/>
            <a:r>
              <a:t>Sexuality &amp; Reproduction</a:t>
            </a:r>
          </a:p>
        </p:txBody>
      </p:sp>
      <p:sp>
        <p:nvSpPr>
          <p:cNvPr id="245" name="Text 30"/>
          <p:cNvSpPr txBox="1"/>
          <p:nvPr/>
        </p:nvSpPr>
        <p:spPr>
          <a:xfrm>
            <a:off x="4846320" y="2542032"/>
            <a:ext cx="393192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Multiparous; advised to abstain from sex for 4–6 weeks post-op</a:t>
            </a:r>
          </a:p>
        </p:txBody>
      </p:sp>
      <p:sp>
        <p:nvSpPr>
          <p:cNvPr id="246" name="Shape 31"/>
          <p:cNvSpPr/>
          <p:nvPr/>
        </p:nvSpPr>
        <p:spPr>
          <a:xfrm>
            <a:off x="4754879" y="2953510"/>
            <a:ext cx="4160521" cy="621795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7" name="Text 32"/>
          <p:cNvSpPr txBox="1"/>
          <p:nvPr/>
        </p:nvSpPr>
        <p:spPr>
          <a:xfrm>
            <a:off x="4846320" y="2977563"/>
            <a:ext cx="1371602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C8DCF0"/>
                </a:solidFill>
              </a:defRPr>
            </a:lvl1pPr>
          </a:lstStyle>
          <a:p>
            <a:pPr/>
            <a:r>
              <a:t>Coping &amp; Stress Tolerance</a:t>
            </a:r>
          </a:p>
        </p:txBody>
      </p:sp>
      <p:sp>
        <p:nvSpPr>
          <p:cNvPr id="248" name="Text 33"/>
          <p:cNvSpPr txBox="1"/>
          <p:nvPr/>
        </p:nvSpPr>
        <p:spPr>
          <a:xfrm>
            <a:off x="4846320" y="3246120"/>
            <a:ext cx="393192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Coped with support of family and healthcare team</a:t>
            </a:r>
          </a:p>
        </p:txBody>
      </p:sp>
      <p:sp>
        <p:nvSpPr>
          <p:cNvPr id="249" name="Shape 34"/>
          <p:cNvSpPr/>
          <p:nvPr/>
        </p:nvSpPr>
        <p:spPr>
          <a:xfrm>
            <a:off x="4754879" y="3657600"/>
            <a:ext cx="4160521" cy="621792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0" name="Text 35"/>
          <p:cNvSpPr txBox="1"/>
          <p:nvPr/>
        </p:nvSpPr>
        <p:spPr>
          <a:xfrm>
            <a:off x="4846320" y="3764202"/>
            <a:ext cx="137160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C8DCF0"/>
                </a:solidFill>
              </a:defRPr>
            </a:lvl1pPr>
          </a:lstStyle>
          <a:p>
            <a:pPr/>
            <a:r>
              <a:t>Values &amp; Beliefs</a:t>
            </a:r>
          </a:p>
        </p:txBody>
      </p:sp>
      <p:sp>
        <p:nvSpPr>
          <p:cNvPr id="251" name="Text 36"/>
          <p:cNvSpPr txBox="1"/>
          <p:nvPr/>
        </p:nvSpPr>
        <p:spPr>
          <a:xfrm>
            <a:off x="4846320" y="3950208"/>
            <a:ext cx="393192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Christian faith; expressed reliance on God for healing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push dir="l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4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5" name="Text 2"/>
          <p:cNvSpPr txBox="1"/>
          <p:nvPr/>
        </p:nvSpPr>
        <p:spPr>
          <a:xfrm>
            <a:off x="365759" y="302113"/>
            <a:ext cx="8412482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INVESTIGATIONS — LABORATORY FINDINGS</a:t>
            </a:r>
          </a:p>
        </p:txBody>
      </p:sp>
      <p:sp>
        <p:nvSpPr>
          <p:cNvPr id="256" name="Text 3"/>
          <p:cNvSpPr txBox="1"/>
          <p:nvPr/>
        </p:nvSpPr>
        <p:spPr>
          <a:xfrm>
            <a:off x="274320" y="4942840"/>
            <a:ext cx="8595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8899AA"/>
                </a:solidFill>
              </a:defRPr>
            </a:lvl1pPr>
          </a:lstStyle>
          <a:p>
            <a:pPr/>
            <a:r>
              <a:t>OGAGA RITA EMUOBOSA  |  CONPRN25088</a:t>
            </a:r>
          </a:p>
        </p:txBody>
      </p:sp>
      <p:sp>
        <p:nvSpPr>
          <p:cNvPr id="257" name="Text 4"/>
          <p:cNvSpPr txBox="1"/>
          <p:nvPr/>
        </p:nvSpPr>
        <p:spPr>
          <a:xfrm>
            <a:off x="365759" y="1031434"/>
            <a:ext cx="841248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D2B55"/>
                </a:solidFill>
              </a:defRPr>
            </a:lvl1pPr>
          </a:lstStyle>
          <a:p>
            <a:pPr/>
            <a:r>
              <a:t>LABORATORY FINDINGS</a:t>
            </a:r>
          </a:p>
        </p:txBody>
      </p:sp>
      <p:graphicFrame>
        <p:nvGraphicFramePr>
          <p:cNvPr id="258" name="Table 0"/>
          <p:cNvGraphicFramePr/>
          <p:nvPr/>
        </p:nvGraphicFramePr>
        <p:xfrm>
          <a:off x="320040" y="1298447"/>
          <a:ext cx="8503922" cy="3456434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920240"/>
                <a:gridCol w="1828800"/>
                <a:gridCol w="1691640"/>
                <a:gridCol w="306324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INVESTIGATION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PATIENT'S RESULT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NORMAL RANGE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SIGNIFICANCE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0D2B5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Packed Cell Volume (PCV)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30%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36–46% (female)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Low — indicates anaemia from chronic blood loss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Haemoglobin (Hb)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Reduced (consistent with PCV)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12–16 g/dL (female)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Confirms iron-deficiency anaemia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White Blood Cell Count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Within normal limits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4,000–11,000/mm³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No evidence of active infection pre-op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Blood Group &amp; Genotype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Done for cross-matching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—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Required pre-operatively for blood transfusion preparation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Urinalysis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No abnormalities detected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No protein/glucose/blood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Rules out urinary tract infection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Blood Pressure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120/80 mmHg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&lt; 140/90 mmHg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Within normal range — cardiovascular stable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Pulse Rate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101 bpm (admission)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60–100 bpm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Slightly elevated — likely due to anxiety/pain on admission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Chest X-Ray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Done — no abnormalities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Clear lung fields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Cleared for general anaesthesia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push dir="l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5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1" name="Shape 1"/>
          <p:cNvSpPr/>
          <p:nvPr/>
        </p:nvSpPr>
        <p:spPr>
          <a:xfrm>
            <a:off x="0" y="-1"/>
            <a:ext cx="9144000" cy="777242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2" name="Text 2"/>
          <p:cNvSpPr txBox="1"/>
          <p:nvPr/>
        </p:nvSpPr>
        <p:spPr>
          <a:xfrm>
            <a:off x="365759" y="260965"/>
            <a:ext cx="8412482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INVESTIGATIONS — PELVIC ULTRASOUND &amp; CROSS MATCHING</a:t>
            </a:r>
          </a:p>
        </p:txBody>
      </p:sp>
      <p:sp>
        <p:nvSpPr>
          <p:cNvPr id="263" name="Text 3"/>
          <p:cNvSpPr txBox="1"/>
          <p:nvPr/>
        </p:nvSpPr>
        <p:spPr>
          <a:xfrm>
            <a:off x="274320" y="4942840"/>
            <a:ext cx="8595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7EA8D4"/>
                </a:solidFill>
              </a:defRPr>
            </a:lvl1pPr>
          </a:lstStyle>
          <a:p>
            <a:pPr/>
            <a:r>
              <a:t>OGAGA RITA EMUOBOSA  |  CONPRN25088</a:t>
            </a:r>
          </a:p>
        </p:txBody>
      </p:sp>
      <p:sp>
        <p:nvSpPr>
          <p:cNvPr id="264" name="Shape 4"/>
          <p:cNvSpPr/>
          <p:nvPr/>
        </p:nvSpPr>
        <p:spPr>
          <a:xfrm>
            <a:off x="320038" y="868680"/>
            <a:ext cx="4206244" cy="4069080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5" name="Text 5"/>
          <p:cNvSpPr txBox="1"/>
          <p:nvPr/>
        </p:nvSpPr>
        <p:spPr>
          <a:xfrm>
            <a:off x="411478" y="999429"/>
            <a:ext cx="4023363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PELVIC ULTRASOUND SCAN</a:t>
            </a:r>
          </a:p>
        </p:txBody>
      </p:sp>
      <p:sp>
        <p:nvSpPr>
          <p:cNvPr id="266" name="Text 6"/>
          <p:cNvSpPr txBox="1"/>
          <p:nvPr/>
        </p:nvSpPr>
        <p:spPr>
          <a:xfrm>
            <a:off x="411478" y="1298446"/>
            <a:ext cx="4023363" cy="2859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Purpose: To confirm the presence, size, number and location of uterine fibroids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Findings: Multiple fibroid masses identified within the uterus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Classification: Fibroids noted as intramural and/or submucosal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Uterine enlargement confirmed — consistent with multiple fibroids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Bilateral ovaries assessed — no adnexal masses noted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Ascites: Absent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Impression: Uterine fibroid with menorrhagia — confirmed for myomectomy</a:t>
            </a:r>
          </a:p>
        </p:txBody>
      </p:sp>
      <p:sp>
        <p:nvSpPr>
          <p:cNvPr id="267" name="Shape 7"/>
          <p:cNvSpPr/>
          <p:nvPr/>
        </p:nvSpPr>
        <p:spPr>
          <a:xfrm>
            <a:off x="4663440" y="868680"/>
            <a:ext cx="4206242" cy="4069080"/>
          </a:xfrm>
          <a:prstGeom prst="rect">
            <a:avLst/>
          </a:prstGeom>
          <a:solidFill>
            <a:srgbClr val="11224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8" name="Text 8"/>
          <p:cNvSpPr txBox="1"/>
          <p:nvPr/>
        </p:nvSpPr>
        <p:spPr>
          <a:xfrm>
            <a:off x="4754879" y="999429"/>
            <a:ext cx="4023360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7EA8D4"/>
                </a:solidFill>
              </a:defRPr>
            </a:lvl1pPr>
          </a:lstStyle>
          <a:p>
            <a:pPr/>
            <a:r>
              <a:t>BLOOD CROSS MATCHING</a:t>
            </a:r>
          </a:p>
        </p:txBody>
      </p:sp>
      <p:sp>
        <p:nvSpPr>
          <p:cNvPr id="269" name="Text 9"/>
          <p:cNvSpPr txBox="1"/>
          <p:nvPr/>
        </p:nvSpPr>
        <p:spPr>
          <a:xfrm>
            <a:off x="4754879" y="1298446"/>
            <a:ext cx="4023360" cy="265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Purpose: To ensure compatible blood is available for possible transfusion during myomectomy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Patient's blood group and genotype determined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Blood sample sent to blood bank for cross-matching with donor blood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Units of compatible blood reserved pre-operatively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Pre-operative PCV of 30% confirmed anaemia — blood prepared in advance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Consent for blood transfusion obtained from patient and family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Post-operative haematological monitoring planned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push dir="l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2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3" name="Text 2"/>
          <p:cNvSpPr txBox="1"/>
          <p:nvPr/>
        </p:nvSpPr>
        <p:spPr>
          <a:xfrm>
            <a:off x="365759" y="302113"/>
            <a:ext cx="8412482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PHARMACOLOGICAL MANAGEMENT — DRUG TABLE</a:t>
            </a:r>
          </a:p>
        </p:txBody>
      </p:sp>
      <p:sp>
        <p:nvSpPr>
          <p:cNvPr id="274" name="Text 3"/>
          <p:cNvSpPr txBox="1"/>
          <p:nvPr/>
        </p:nvSpPr>
        <p:spPr>
          <a:xfrm>
            <a:off x="274320" y="4942840"/>
            <a:ext cx="8595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8899AA"/>
                </a:solidFill>
              </a:defRPr>
            </a:lvl1pPr>
          </a:lstStyle>
          <a:p>
            <a:pPr/>
            <a:r>
              <a:t>OGAGA RITA EMUOBOSA  |  CONPRN25088</a:t>
            </a:r>
          </a:p>
        </p:txBody>
      </p:sp>
      <p:graphicFrame>
        <p:nvGraphicFramePr>
          <p:cNvPr id="275" name="Table 0"/>
          <p:cNvGraphicFramePr/>
          <p:nvPr/>
        </p:nvGraphicFramePr>
        <p:xfrm>
          <a:off x="274320" y="960119"/>
          <a:ext cx="8595360" cy="402336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103120"/>
                <a:gridCol w="1463040"/>
                <a:gridCol w="1280160"/>
                <a:gridCol w="3749040"/>
              </a:tblGrid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DRUG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DOSE &amp; ROUTE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FREQUENCY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ACTION / RATIONALE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0D2B55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Tab. Augmentin 625mg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625mg — Oral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BD × 5/7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Broad-spectrum antibiotic — prevents post-operative wound infection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Tab. Flagyl (Metronidazole) 400mg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400mg — Oral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TDS × 5/7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Anti-anaerobic antibiotic — treats/prevents anaerobic infection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Tab. Paracetamol 1g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1g — Oral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TDS × 3/7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Analgesic and antipyretic — relieves post-operative pain and fever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Tab. Fesolate 200mg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200mg — Oral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TDS × 2 weeks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Haematinic (iron) — corrects iron-deficiency anaemia post blood loss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Tab. Folic Acid 5mg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5mg — Oral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Daily × 2 weeks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Supports red blood cell production; aids in post-op recovery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Tab. Vitamin C 100mg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100mg — Oral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TDS × 2 weeks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Enhances iron absorption; promotes wound healing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IV Analgesics (Post-op)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As prescribed — IV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PRN (as needed)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D2B55"/>
                          </a:solidFill>
                        </a:rPr>
                        <a:t>Provides immediate pain relief in the immediate post-operative period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push dir="l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8" name="HDR"/>
          <p:cNvSpPr/>
          <p:nvPr/>
        </p:nvSpPr>
        <p:spPr>
          <a:xfrm>
            <a:off x="0" y="0"/>
            <a:ext cx="9144000" cy="620000"/>
          </a:xfrm>
          <a:prstGeom prst="rect">
            <a:avLst/>
          </a:prstGeom>
          <a:solidFill>
            <a:srgbClr val="0D2B5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9" name="Title"/>
          <p:cNvSpPr txBox="1"/>
          <p:nvPr/>
        </p:nvSpPr>
        <p:spPr>
          <a:xfrm>
            <a:off x="249999" y="185629"/>
            <a:ext cx="8644002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PRE-OPERATIVE NURSING CARE PLAN</a:t>
            </a:r>
          </a:p>
        </p:txBody>
      </p:sp>
      <p:sp>
        <p:nvSpPr>
          <p:cNvPr id="280" name="FTR"/>
          <p:cNvSpPr txBox="1"/>
          <p:nvPr/>
        </p:nvSpPr>
        <p:spPr>
          <a:xfrm>
            <a:off x="249999" y="5021500"/>
            <a:ext cx="86440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8899AA"/>
                </a:solidFill>
              </a:defRPr>
            </a:lvl1pPr>
          </a:lstStyle>
          <a:p>
            <a:pPr/>
            <a:r>
              <a:t>OGAGA RITA EMUOBOSA  |  CONPRN25088</a:t>
            </a:r>
          </a:p>
        </p:txBody>
      </p:sp>
      <p:graphicFrame>
        <p:nvGraphicFramePr>
          <p:cNvPr id="281" name="Table16"/>
          <p:cNvGraphicFramePr/>
          <p:nvPr/>
        </p:nvGraphicFramePr>
        <p:xfrm>
          <a:off x="79999" y="635000"/>
          <a:ext cx="8984002" cy="42400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80000"/>
                <a:gridCol w="1580000"/>
                <a:gridCol w="1480000"/>
                <a:gridCol w="2000000"/>
                <a:gridCol w="1683999"/>
                <a:gridCol w="1860000"/>
              </a:tblGrid>
              <a:tr h="68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900">
                          <a:solidFill>
                            <a:srgbClr val="FFFFFF"/>
                          </a:solidFill>
                        </a:rPr>
                        <a:t>S/N</a:t>
                      </a:r>
                    </a:p>
                  </a:txBody>
                  <a:tcPr marL="60000" marR="60000" marT="60000" marB="60000" anchor="ctr" anchorCtr="0" horzOverflow="overflow">
                    <a:lnL>
                      <a:solidFill>
                        <a:srgbClr val="3A5A80"/>
                      </a:solidFill>
                    </a:lnL>
                    <a:lnR>
                      <a:solidFill>
                        <a:srgbClr val="3A5A80"/>
                      </a:solidFill>
                    </a:lnR>
                    <a:lnT>
                      <a:solidFill>
                        <a:srgbClr val="3A5A80"/>
                      </a:solidFill>
                    </a:lnT>
                    <a:lnB>
                      <a:solidFill>
                        <a:srgbClr val="3A5A80"/>
                      </a:solidFill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900">
                          <a:solidFill>
                            <a:srgbClr val="FFFFFF"/>
                          </a:solidFill>
                        </a:rPr>
                        <a:t>NURSING DIAGNOSIS</a:t>
                      </a:r>
                    </a:p>
                  </a:txBody>
                  <a:tcPr marL="60000" marR="60000" marT="60000" marB="60000" anchor="ctr" anchorCtr="0" horzOverflow="overflow">
                    <a:lnL>
                      <a:solidFill>
                        <a:srgbClr val="3A5A80"/>
                      </a:solidFill>
                    </a:lnL>
                    <a:lnR>
                      <a:solidFill>
                        <a:srgbClr val="3A5A80"/>
                      </a:solidFill>
                    </a:lnR>
                    <a:lnT>
                      <a:solidFill>
                        <a:srgbClr val="3A5A80"/>
                      </a:solidFill>
                    </a:lnT>
                    <a:lnB>
                      <a:solidFill>
                        <a:srgbClr val="3A5A80"/>
                      </a:solidFill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900">
                          <a:solidFill>
                            <a:srgbClr val="FFFFFF"/>
                          </a:solidFill>
                        </a:rPr>
                        <a:t>NURSING OBJECTIVES</a:t>
                      </a:r>
                    </a:p>
                  </a:txBody>
                  <a:tcPr marL="60000" marR="60000" marT="60000" marB="60000" anchor="ctr" anchorCtr="0" horzOverflow="overflow">
                    <a:lnL>
                      <a:solidFill>
                        <a:srgbClr val="3A5A80"/>
                      </a:solidFill>
                    </a:lnL>
                    <a:lnR>
                      <a:solidFill>
                        <a:srgbClr val="3A5A80"/>
                      </a:solidFill>
                    </a:lnR>
                    <a:lnT>
                      <a:solidFill>
                        <a:srgbClr val="3A5A80"/>
                      </a:solidFill>
                    </a:lnT>
                    <a:lnB>
                      <a:solidFill>
                        <a:srgbClr val="3A5A80"/>
                      </a:solidFill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900">
                          <a:solidFill>
                            <a:srgbClr val="FFFFFF"/>
                          </a:solidFill>
                        </a:rPr>
                        <a:t>NURSING INTERVENTIONS</a:t>
                      </a:r>
                    </a:p>
                  </a:txBody>
                  <a:tcPr marL="60000" marR="60000" marT="60000" marB="60000" anchor="ctr" anchorCtr="0" horzOverflow="overflow">
                    <a:lnL>
                      <a:solidFill>
                        <a:srgbClr val="3A5A80"/>
                      </a:solidFill>
                    </a:lnL>
                    <a:lnR>
                      <a:solidFill>
                        <a:srgbClr val="3A5A80"/>
                      </a:solidFill>
                    </a:lnR>
                    <a:lnT>
                      <a:solidFill>
                        <a:srgbClr val="3A5A80"/>
                      </a:solidFill>
                    </a:lnT>
                    <a:lnB>
                      <a:solidFill>
                        <a:srgbClr val="3A5A80"/>
                      </a:solidFill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900">
                          <a:solidFill>
                            <a:srgbClr val="FFFFFF"/>
                          </a:solidFill>
                        </a:rPr>
                        <a:t>SPECIFIC RATIONALE</a:t>
                      </a:r>
                    </a:p>
                  </a:txBody>
                  <a:tcPr marL="60000" marR="60000" marT="60000" marB="60000" anchor="ctr" anchorCtr="0" horzOverflow="overflow">
                    <a:lnL>
                      <a:solidFill>
                        <a:srgbClr val="3A5A80"/>
                      </a:solidFill>
                    </a:lnL>
                    <a:lnR>
                      <a:solidFill>
                        <a:srgbClr val="3A5A80"/>
                      </a:solidFill>
                    </a:lnR>
                    <a:lnT>
                      <a:solidFill>
                        <a:srgbClr val="3A5A80"/>
                      </a:solidFill>
                    </a:lnT>
                    <a:lnB>
                      <a:solidFill>
                        <a:srgbClr val="3A5A80"/>
                      </a:solidFill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900">
                          <a:solidFill>
                            <a:srgbClr val="FFFFFF"/>
                          </a:solidFill>
                        </a:rPr>
                        <a:t>EVALUATION</a:t>
                      </a:r>
                    </a:p>
                  </a:txBody>
                  <a:tcPr marL="60000" marR="60000" marT="60000" marB="60000" anchor="ctr" anchorCtr="0" horzOverflow="overflow">
                    <a:lnL>
                      <a:solidFill>
                        <a:srgbClr val="3A5A80"/>
                      </a:solidFill>
                    </a:lnL>
                    <a:lnR>
                      <a:solidFill>
                        <a:srgbClr val="3A5A80"/>
                      </a:solidFill>
                    </a:lnR>
                    <a:lnT>
                      <a:solidFill>
                        <a:srgbClr val="3A5A80"/>
                      </a:solidFill>
                    </a:lnT>
                    <a:lnB>
                      <a:solidFill>
                        <a:srgbClr val="3A5A80"/>
                      </a:solidFill>
                    </a:lnB>
                    <a:solidFill>
                      <a:srgbClr val="0D2B55"/>
                    </a:solidFill>
                  </a:tcPr>
                </a:tc>
              </a:tr>
              <a:tr h="178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0D2B55"/>
                          </a:solidFill>
                        </a:rPr>
                        <a:t>1</a:t>
                      </a:r>
                    </a:p>
                  </a:txBody>
                  <a:tcPr marL="60000" marR="60000" marT="60000" marB="60000" anchor="t" anchorCtr="0" horzOverflow="overflow">
                    <a:lnL>
                      <a:solidFill>
                        <a:srgbClr val="CCDDEE"/>
                      </a:solidFill>
                    </a:lnL>
                    <a:lnR>
                      <a:solidFill>
                        <a:srgbClr val="CCDDEE"/>
                      </a:solidFill>
                    </a:lnR>
                    <a:lnT>
                      <a:solidFill>
                        <a:srgbClr val="3A5A80"/>
                      </a:solidFill>
                    </a:lnT>
                    <a:lnB>
                      <a:solidFill>
                        <a:srgbClr val="CCDD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0D2B55"/>
                          </a:solidFill>
                        </a:rPr>
                        <a:t>Anxiety related to
unknown outcome of
surgery evidenced by
restlessness and
patient verbalization</a:t>
                      </a:r>
                    </a:p>
                  </a:txBody>
                  <a:tcPr marL="60000" marR="60000" marT="60000" marB="60000" anchor="t" anchorCtr="0" horzOverflow="overflow">
                    <a:lnL>
                      <a:solidFill>
                        <a:srgbClr val="CCDDEE"/>
                      </a:solidFill>
                    </a:lnL>
                    <a:lnR>
                      <a:solidFill>
                        <a:srgbClr val="CCDDEE"/>
                      </a:solidFill>
                    </a:lnR>
                    <a:lnT>
                      <a:solidFill>
                        <a:srgbClr val="3A5A80"/>
                      </a:solidFill>
                    </a:lnT>
                    <a:lnB>
                      <a:solidFill>
                        <a:srgbClr val="CCDD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0D2B55"/>
                          </a:solidFill>
                        </a:rPr>
                        <a:t>Patient will verbalize
relief of anxiety within
6-10 hours of nursing
intervention</a:t>
                      </a:r>
                    </a:p>
                  </a:txBody>
                  <a:tcPr marL="60000" marR="60000" marT="60000" marB="60000" anchor="t" anchorCtr="0" horzOverflow="overflow">
                    <a:lnL>
                      <a:solidFill>
                        <a:srgbClr val="CCDDEE"/>
                      </a:solidFill>
                    </a:lnL>
                    <a:lnR>
                      <a:solidFill>
                        <a:srgbClr val="CCDDEE"/>
                      </a:solidFill>
                    </a:lnR>
                    <a:lnT>
                      <a:solidFill>
                        <a:srgbClr val="3A5A80"/>
                      </a:solidFill>
                    </a:lnT>
                    <a:lnB>
                      <a:solidFill>
                        <a:srgbClr val="CCDD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0D2B55"/>
                          </a:solidFill>
                        </a:rPr>
                        <a:t>1. Assess patient for signs of
   anxiety (rapid heart rate,
   sweating, restlessness)
2. Admit patient close to a
   patient who had myomectomy
3. Build trusting nurse-patient
   relationship
4. Encourage patient to verbalize
   her fears and worries
5. Correct patient's
   misconceptions about surgery</a:t>
                      </a:r>
                    </a:p>
                  </a:txBody>
                  <a:tcPr marL="60000" marR="60000" marT="60000" marB="60000" anchor="t" anchorCtr="0" horzOverflow="overflow">
                    <a:lnL>
                      <a:solidFill>
                        <a:srgbClr val="CCDDEE"/>
                      </a:solidFill>
                    </a:lnL>
                    <a:lnR>
                      <a:solidFill>
                        <a:srgbClr val="CCDDEE"/>
                      </a:solidFill>
                    </a:lnR>
                    <a:lnT>
                      <a:solidFill>
                        <a:srgbClr val="3A5A80"/>
                      </a:solidFill>
                    </a:lnT>
                    <a:lnB>
                      <a:solidFill>
                        <a:srgbClr val="CCDD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0D2B55"/>
                          </a:solidFill>
                        </a:rPr>
                        <a:t>1. Serves as baseline
   for further intervention
2. Presents comfortable
   opportunity for reassurance
3. Makes patient comfortable
   to verbalize fears
4. Relieves tension and anxiety
5. Gives patient the right
   mindset</a:t>
                      </a:r>
                    </a:p>
                  </a:txBody>
                  <a:tcPr marL="60000" marR="60000" marT="60000" marB="60000" anchor="t" anchorCtr="0" horzOverflow="overflow">
                    <a:lnL>
                      <a:solidFill>
                        <a:srgbClr val="CCDDEE"/>
                      </a:solidFill>
                    </a:lnL>
                    <a:lnR>
                      <a:solidFill>
                        <a:srgbClr val="CCDDEE"/>
                      </a:solidFill>
                    </a:lnR>
                    <a:lnT>
                      <a:solidFill>
                        <a:srgbClr val="3A5A80"/>
                      </a:solidFill>
                    </a:lnT>
                    <a:lnB>
                      <a:solidFill>
                        <a:srgbClr val="CCDD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0D2B55"/>
                          </a:solidFill>
                        </a:rPr>
                        <a:t>Patient verbalized relief
of anxiety after 8
hours of nursing
intervention</a:t>
                      </a:r>
                    </a:p>
                  </a:txBody>
                  <a:tcPr marL="60000" marR="60000" marT="60000" marB="60000" anchor="t" anchorCtr="0" horzOverflow="overflow">
                    <a:lnL>
                      <a:solidFill>
                        <a:srgbClr val="CCDDEE"/>
                      </a:solidFill>
                    </a:lnL>
                    <a:lnR>
                      <a:solidFill>
                        <a:srgbClr val="CCDDEE"/>
                      </a:solidFill>
                    </a:lnR>
                    <a:lnT>
                      <a:solidFill>
                        <a:srgbClr val="3A5A80"/>
                      </a:solidFill>
                    </a:lnT>
                    <a:lnB>
                      <a:solidFill>
                        <a:srgbClr val="CCDD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0D2B55"/>
                          </a:solidFill>
                        </a:rPr>
                        <a:t>2</a:t>
                      </a:r>
                    </a:p>
                  </a:txBody>
                  <a:tcPr marL="60000" marR="60000" marT="60000" marB="60000" anchor="t" anchorCtr="0" horzOverflow="overflow">
                    <a:lnL>
                      <a:solidFill>
                        <a:srgbClr val="CCDDEE"/>
                      </a:solidFill>
                    </a:lnL>
                    <a:lnR>
                      <a:solidFill>
                        <a:srgbClr val="CCDDEE"/>
                      </a:solidFill>
                    </a:lnR>
                    <a:lnT>
                      <a:solidFill>
                        <a:srgbClr val="CCDDEE"/>
                      </a:solidFill>
                    </a:lnT>
                    <a:lnB>
                      <a:solidFill>
                        <a:srgbClr val="CCDDEE"/>
                      </a:solidFill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0D2B55"/>
                          </a:solidFill>
                        </a:rPr>
                        <a:t>Ineffective tissue
perfusion related to
poor intravascular
volume evidenced by
PCV of 30%</a:t>
                      </a:r>
                    </a:p>
                  </a:txBody>
                  <a:tcPr marL="60000" marR="60000" marT="60000" marB="60000" anchor="t" anchorCtr="0" horzOverflow="overflow">
                    <a:lnL>
                      <a:solidFill>
                        <a:srgbClr val="CCDDEE"/>
                      </a:solidFill>
                    </a:lnL>
                    <a:lnR>
                      <a:solidFill>
                        <a:srgbClr val="CCDDEE"/>
                      </a:solidFill>
                    </a:lnR>
                    <a:lnT>
                      <a:solidFill>
                        <a:srgbClr val="CCDDEE"/>
                      </a:solidFill>
                    </a:lnT>
                    <a:lnB>
                      <a:solidFill>
                        <a:srgbClr val="CCDDEE"/>
                      </a:solidFill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0D2B55"/>
                          </a:solidFill>
                        </a:rPr>
                        <a:t>Patient PCV will
increase by 4-6%
within 2 to 3 days of
nursing intervention</a:t>
                      </a:r>
                    </a:p>
                  </a:txBody>
                  <a:tcPr marL="60000" marR="60000" marT="60000" marB="60000" anchor="t" anchorCtr="0" horzOverflow="overflow">
                    <a:lnL>
                      <a:solidFill>
                        <a:srgbClr val="CCDDEE"/>
                      </a:solidFill>
                    </a:lnL>
                    <a:lnR>
                      <a:solidFill>
                        <a:srgbClr val="CCDDEE"/>
                      </a:solidFill>
                    </a:lnR>
                    <a:lnT>
                      <a:solidFill>
                        <a:srgbClr val="CCDDEE"/>
                      </a:solidFill>
                    </a:lnT>
                    <a:lnB>
                      <a:solidFill>
                        <a:srgbClr val="CCDDEE"/>
                      </a:solidFill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D2B55"/>
                          </a:solidFill>
                        </a:defRPr>
                      </a:pPr>
                      <a:r>
                        <a:t>1. Place patient on diet rich</a:t>
                      </a:r>
                    </a:p>
                    <a:p>
                      <a:pPr algn="l">
                        <a:defRPr sz="900">
                          <a:solidFill>
                            <a:srgbClr val="0D2B55"/>
                          </a:solidFill>
                        </a:defRPr>
                      </a:pPr>
                      <a:r>
                        <a:t>   in protein and iron</a:t>
                      </a:r>
                    </a:p>
                    <a:p>
                      <a:pPr algn="l">
                        <a:defRPr sz="900">
                          <a:solidFill>
                            <a:srgbClr val="0D2B55"/>
                          </a:solidFill>
                        </a:defRPr>
                      </a:pPr>
                      <a:r>
                        <a:t>2. Administer intravenous fluid</a:t>
                      </a:r>
                    </a:p>
                    <a:p>
                      <a:pPr algn="l">
                        <a:defRPr sz="900">
                          <a:solidFill>
                            <a:srgbClr val="0D2B55"/>
                          </a:solidFill>
                        </a:defRPr>
                      </a:pPr>
                      <a:r>
                        <a:t>   as prescribed</a:t>
                      </a:r>
                    </a:p>
                    <a:p>
                      <a:pPr algn="l">
                        <a:defRPr i="1" sz="900">
                          <a:solidFill>
                            <a:srgbClr val="0D2B55"/>
                          </a:solidFill>
                        </a:defRPr>
                      </a:pPr>
                      <a:r>
                        <a:t>   (E.g 0.9 N/s)</a:t>
                      </a:r>
                    </a:p>
                    <a:p>
                      <a:pPr algn="l">
                        <a:defRPr sz="900">
                          <a:solidFill>
                            <a:srgbClr val="0D2B55"/>
                          </a:solidFill>
                        </a:defRPr>
                      </a:pPr>
                      <a:r>
                        <a:t>3. Ensure patient is transfused</a:t>
                      </a:r>
                    </a:p>
                    <a:p>
                      <a:pPr algn="l">
                        <a:defRPr sz="900">
                          <a:solidFill>
                            <a:srgbClr val="0D2B55"/>
                          </a:solidFill>
                        </a:defRPr>
                      </a:pPr>
                      <a:r>
                        <a:t>   with right blood products</a:t>
                      </a:r>
                    </a:p>
                    <a:p>
                      <a:pPr algn="l">
                        <a:defRPr sz="900">
                          <a:solidFill>
                            <a:srgbClr val="0D2B55"/>
                          </a:solidFill>
                        </a:defRPr>
                      </a:pPr>
                      <a:r>
                        <a:t>   (Fresh whole blood)</a:t>
                      </a:r>
                    </a:p>
                    <a:p>
                      <a:pPr algn="l">
                        <a:defRPr sz="900">
                          <a:solidFill>
                            <a:srgbClr val="0D2B55"/>
                          </a:solidFill>
                        </a:defRPr>
                      </a:pPr>
                      <a:r>
                        <a:t>4. Ensure PCV is rechecked</a:t>
                      </a:r>
                    </a:p>
                  </a:txBody>
                  <a:tcPr marL="60000" marR="60000" marT="60000" marB="60000" anchor="t" anchorCtr="0" horzOverflow="overflow">
                    <a:lnL>
                      <a:solidFill>
                        <a:srgbClr val="CCDDEE"/>
                      </a:solidFill>
                    </a:lnL>
                    <a:lnR>
                      <a:solidFill>
                        <a:srgbClr val="CCDDEE"/>
                      </a:solidFill>
                    </a:lnR>
                    <a:lnT>
                      <a:solidFill>
                        <a:srgbClr val="CCDDEE"/>
                      </a:solidFill>
                    </a:lnT>
                    <a:lnB>
                      <a:solidFill>
                        <a:srgbClr val="CCDDEE"/>
                      </a:solidFill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0D2B55"/>
                          </a:solidFill>
                        </a:rPr>
                        <a:t>1. Provides required nutrients
   to boost red blood cells
2. Increases the intravascular
   volume
3. Increases red blood cells
   and improves tissue
   perfusion
4. Monitors progress of
   intervention</a:t>
                      </a:r>
                    </a:p>
                  </a:txBody>
                  <a:tcPr marL="60000" marR="60000" marT="60000" marB="60000" anchor="t" anchorCtr="0" horzOverflow="overflow">
                    <a:lnL>
                      <a:solidFill>
                        <a:srgbClr val="CCDDEE"/>
                      </a:solidFill>
                    </a:lnL>
                    <a:lnR>
                      <a:solidFill>
                        <a:srgbClr val="CCDDEE"/>
                      </a:solidFill>
                    </a:lnR>
                    <a:lnT>
                      <a:solidFill>
                        <a:srgbClr val="CCDDEE"/>
                      </a:solidFill>
                    </a:lnT>
                    <a:lnB>
                      <a:solidFill>
                        <a:srgbClr val="CCDDEE"/>
                      </a:solidFill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0D2B55"/>
                          </a:solidFill>
                        </a:rPr>
                        <a:t>Patient PCV increased
by 5% after 3 days
of nursing intervention</a:t>
                      </a:r>
                    </a:p>
                  </a:txBody>
                  <a:tcPr marL="60000" marR="60000" marT="60000" marB="60000" anchor="t" anchorCtr="0" horzOverflow="overflow">
                    <a:lnL>
                      <a:solidFill>
                        <a:srgbClr val="CCDDEE"/>
                      </a:solidFill>
                    </a:lnL>
                    <a:lnR>
                      <a:solidFill>
                        <a:srgbClr val="CCDDEE"/>
                      </a:solidFill>
                    </a:lnR>
                    <a:lnT>
                      <a:solidFill>
                        <a:srgbClr val="CCDDEE"/>
                      </a:solidFill>
                    </a:lnT>
                    <a:lnB>
                      <a:solidFill>
                        <a:srgbClr val="CCDDEE"/>
                      </a:solidFill>
                    </a:lnB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push dir="l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4" name="HDR"/>
          <p:cNvSpPr/>
          <p:nvPr/>
        </p:nvSpPr>
        <p:spPr>
          <a:xfrm>
            <a:off x="0" y="0"/>
            <a:ext cx="9144000" cy="620000"/>
          </a:xfrm>
          <a:prstGeom prst="rect">
            <a:avLst/>
          </a:prstGeom>
          <a:solidFill>
            <a:srgbClr val="0D2B5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5" name="Title"/>
          <p:cNvSpPr txBox="1"/>
          <p:nvPr/>
        </p:nvSpPr>
        <p:spPr>
          <a:xfrm>
            <a:off x="249999" y="185629"/>
            <a:ext cx="8644002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POST-OPERATIVE NURSING CARE PLAN</a:t>
            </a:r>
          </a:p>
        </p:txBody>
      </p:sp>
      <p:sp>
        <p:nvSpPr>
          <p:cNvPr id="286" name="FTR"/>
          <p:cNvSpPr txBox="1"/>
          <p:nvPr/>
        </p:nvSpPr>
        <p:spPr>
          <a:xfrm>
            <a:off x="249999" y="5021500"/>
            <a:ext cx="86440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8899AA"/>
                </a:solidFill>
              </a:defRPr>
            </a:lvl1pPr>
          </a:lstStyle>
          <a:p>
            <a:pPr/>
            <a:r>
              <a:t>OGAGA RITA EMUOBOSA  |  CONPRN25088</a:t>
            </a:r>
          </a:p>
        </p:txBody>
      </p:sp>
      <p:graphicFrame>
        <p:nvGraphicFramePr>
          <p:cNvPr id="287" name="Table17"/>
          <p:cNvGraphicFramePr/>
          <p:nvPr/>
        </p:nvGraphicFramePr>
        <p:xfrm>
          <a:off x="79999" y="635000"/>
          <a:ext cx="8984002" cy="45800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80000"/>
                <a:gridCol w="1580000"/>
                <a:gridCol w="1480000"/>
                <a:gridCol w="2000000"/>
                <a:gridCol w="1683999"/>
                <a:gridCol w="1860000"/>
              </a:tblGrid>
              <a:tr h="68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900">
                          <a:solidFill>
                            <a:srgbClr val="FFFFFF"/>
                          </a:solidFill>
                        </a:rPr>
                        <a:t>S/N</a:t>
                      </a:r>
                    </a:p>
                  </a:txBody>
                  <a:tcPr marL="60000" marR="60000" marT="60000" marB="60000" anchor="ctr" anchorCtr="0" horzOverflow="overflow">
                    <a:lnL>
                      <a:solidFill>
                        <a:srgbClr val="3A5A80"/>
                      </a:solidFill>
                    </a:lnL>
                    <a:lnR>
                      <a:solidFill>
                        <a:srgbClr val="3A5A80"/>
                      </a:solidFill>
                    </a:lnR>
                    <a:lnT>
                      <a:solidFill>
                        <a:srgbClr val="3A5A80"/>
                      </a:solidFill>
                    </a:lnT>
                    <a:lnB>
                      <a:solidFill>
                        <a:srgbClr val="3A5A80"/>
                      </a:solidFill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900">
                          <a:solidFill>
                            <a:srgbClr val="FFFFFF"/>
                          </a:solidFill>
                        </a:rPr>
                        <a:t>NURSING DIAGNOSIS</a:t>
                      </a:r>
                    </a:p>
                  </a:txBody>
                  <a:tcPr marL="60000" marR="60000" marT="60000" marB="60000" anchor="ctr" anchorCtr="0" horzOverflow="overflow">
                    <a:lnL>
                      <a:solidFill>
                        <a:srgbClr val="3A5A80"/>
                      </a:solidFill>
                    </a:lnL>
                    <a:lnR>
                      <a:solidFill>
                        <a:srgbClr val="3A5A80"/>
                      </a:solidFill>
                    </a:lnR>
                    <a:lnT>
                      <a:solidFill>
                        <a:srgbClr val="3A5A80"/>
                      </a:solidFill>
                    </a:lnT>
                    <a:lnB>
                      <a:solidFill>
                        <a:srgbClr val="3A5A80"/>
                      </a:solidFill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900">
                          <a:solidFill>
                            <a:srgbClr val="FFFFFF"/>
                          </a:solidFill>
                        </a:rPr>
                        <a:t>NURSING OBJECTIVES</a:t>
                      </a:r>
                    </a:p>
                  </a:txBody>
                  <a:tcPr marL="60000" marR="60000" marT="60000" marB="60000" anchor="ctr" anchorCtr="0" horzOverflow="overflow">
                    <a:lnL>
                      <a:solidFill>
                        <a:srgbClr val="3A5A80"/>
                      </a:solidFill>
                    </a:lnL>
                    <a:lnR>
                      <a:solidFill>
                        <a:srgbClr val="3A5A80"/>
                      </a:solidFill>
                    </a:lnR>
                    <a:lnT>
                      <a:solidFill>
                        <a:srgbClr val="3A5A80"/>
                      </a:solidFill>
                    </a:lnT>
                    <a:lnB>
                      <a:solidFill>
                        <a:srgbClr val="3A5A80"/>
                      </a:solidFill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900">
                          <a:solidFill>
                            <a:srgbClr val="FFFFFF"/>
                          </a:solidFill>
                        </a:rPr>
                        <a:t>NURSING INTERVENTIONS</a:t>
                      </a:r>
                    </a:p>
                  </a:txBody>
                  <a:tcPr marL="60000" marR="60000" marT="60000" marB="60000" anchor="ctr" anchorCtr="0" horzOverflow="overflow">
                    <a:lnL>
                      <a:solidFill>
                        <a:srgbClr val="3A5A80"/>
                      </a:solidFill>
                    </a:lnL>
                    <a:lnR>
                      <a:solidFill>
                        <a:srgbClr val="3A5A80"/>
                      </a:solidFill>
                    </a:lnR>
                    <a:lnT>
                      <a:solidFill>
                        <a:srgbClr val="3A5A80"/>
                      </a:solidFill>
                    </a:lnT>
                    <a:lnB>
                      <a:solidFill>
                        <a:srgbClr val="3A5A80"/>
                      </a:solidFill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900">
                          <a:solidFill>
                            <a:srgbClr val="FFFFFF"/>
                          </a:solidFill>
                        </a:rPr>
                        <a:t>SPECIFIC RATIONALE</a:t>
                      </a:r>
                    </a:p>
                  </a:txBody>
                  <a:tcPr marL="60000" marR="60000" marT="60000" marB="60000" anchor="ctr" anchorCtr="0" horzOverflow="overflow">
                    <a:lnL>
                      <a:solidFill>
                        <a:srgbClr val="3A5A80"/>
                      </a:solidFill>
                    </a:lnL>
                    <a:lnR>
                      <a:solidFill>
                        <a:srgbClr val="3A5A80"/>
                      </a:solidFill>
                    </a:lnR>
                    <a:lnT>
                      <a:solidFill>
                        <a:srgbClr val="3A5A80"/>
                      </a:solidFill>
                    </a:lnT>
                    <a:lnB>
                      <a:solidFill>
                        <a:srgbClr val="3A5A80"/>
                      </a:solidFill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900">
                          <a:solidFill>
                            <a:srgbClr val="FFFFFF"/>
                          </a:solidFill>
                        </a:rPr>
                        <a:t>EVALUATION</a:t>
                      </a:r>
                    </a:p>
                  </a:txBody>
                  <a:tcPr marL="60000" marR="60000" marT="60000" marB="60000" anchor="ctr" anchorCtr="0" horzOverflow="overflow">
                    <a:lnL>
                      <a:solidFill>
                        <a:srgbClr val="3A5A80"/>
                      </a:solidFill>
                    </a:lnL>
                    <a:lnR>
                      <a:solidFill>
                        <a:srgbClr val="3A5A80"/>
                      </a:solidFill>
                    </a:lnR>
                    <a:lnT>
                      <a:solidFill>
                        <a:srgbClr val="3A5A80"/>
                      </a:solidFill>
                    </a:lnT>
                    <a:lnB>
                      <a:solidFill>
                        <a:srgbClr val="3A5A80"/>
                      </a:solidFill>
                    </a:lnB>
                    <a:solidFill>
                      <a:srgbClr val="0D2B55"/>
                    </a:solidFill>
                  </a:tcPr>
                </a:tc>
              </a:tr>
              <a:tr h="130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0D2B55"/>
                          </a:solidFill>
                        </a:rPr>
                        <a:t>1</a:t>
                      </a:r>
                    </a:p>
                  </a:txBody>
                  <a:tcPr marL="60000" marR="60000" marT="60000" marB="60000" anchor="t" anchorCtr="0" horzOverflow="overflow">
                    <a:lnL>
                      <a:solidFill>
                        <a:srgbClr val="CCDDEE"/>
                      </a:solidFill>
                    </a:lnL>
                    <a:lnR>
                      <a:solidFill>
                        <a:srgbClr val="CCDDEE"/>
                      </a:solidFill>
                    </a:lnR>
                    <a:lnT>
                      <a:solidFill>
                        <a:srgbClr val="3A5A80"/>
                      </a:solidFill>
                    </a:lnT>
                    <a:lnB>
                      <a:solidFill>
                        <a:srgbClr val="CCDD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0D2B55"/>
                          </a:solidFill>
                        </a:rPr>
                        <a:t>Acute pain related to
surgical incision
evidenced by verbal
complaint
(Using a scale of
1-10 patient rated 7/10)</a:t>
                      </a:r>
                    </a:p>
                  </a:txBody>
                  <a:tcPr marL="60000" marR="60000" marT="60000" marB="60000" anchor="t" anchorCtr="0" horzOverflow="overflow">
                    <a:lnL>
                      <a:solidFill>
                        <a:srgbClr val="CCDDEE"/>
                      </a:solidFill>
                    </a:lnL>
                    <a:lnR>
                      <a:solidFill>
                        <a:srgbClr val="CCDDEE"/>
                      </a:solidFill>
                    </a:lnR>
                    <a:lnT>
                      <a:solidFill>
                        <a:srgbClr val="3A5A80"/>
                      </a:solidFill>
                    </a:lnT>
                    <a:lnB>
                      <a:solidFill>
                        <a:srgbClr val="CCDD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0D2B55"/>
                          </a:solidFill>
                        </a:rPr>
                        <a:t>Patient will report less
pain (less than 4/10) within
30 mins – 1 hour of
nursing intervention</a:t>
                      </a:r>
                    </a:p>
                  </a:txBody>
                  <a:tcPr marL="60000" marR="60000" marT="60000" marB="60000" anchor="t" anchorCtr="0" horzOverflow="overflow">
                    <a:lnL>
                      <a:solidFill>
                        <a:srgbClr val="CCDDEE"/>
                      </a:solidFill>
                    </a:lnL>
                    <a:lnR>
                      <a:solidFill>
                        <a:srgbClr val="CCDDEE"/>
                      </a:solidFill>
                    </a:lnR>
                    <a:lnT>
                      <a:solidFill>
                        <a:srgbClr val="3A5A80"/>
                      </a:solidFill>
                    </a:lnT>
                    <a:lnB>
                      <a:solidFill>
                        <a:srgbClr val="CCDD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D2B55"/>
                          </a:solidFill>
                        </a:defRPr>
                      </a:pPr>
                      <a:r>
                        <a:t>1. Assess level &amp; nature of pain</a:t>
                      </a:r>
                    </a:p>
                    <a:p>
                      <a:pPr algn="l">
                        <a:defRPr sz="900">
                          <a:solidFill>
                            <a:srgbClr val="0D2B55"/>
                          </a:solidFill>
                        </a:defRPr>
                      </a:pPr>
                      <a:r>
                        <a:t>2. Position patient in dorsal</a:t>
                      </a:r>
                    </a:p>
                    <a:p>
                      <a:pPr algn="l">
                        <a:defRPr sz="900">
                          <a:solidFill>
                            <a:srgbClr val="0D2B55"/>
                          </a:solidFill>
                        </a:defRPr>
                      </a:pPr>
                      <a:r>
                        <a:t>   position (away from incision)</a:t>
                      </a:r>
                    </a:p>
                    <a:p>
                      <a:pPr algn="l">
                        <a:defRPr sz="900">
                          <a:solidFill>
                            <a:srgbClr val="0D2B55"/>
                          </a:solidFill>
                        </a:defRPr>
                      </a:pPr>
                      <a:r>
                        <a:t>3. Reassure — degree of pain</a:t>
                      </a:r>
                    </a:p>
                    <a:p>
                      <a:pPr algn="l">
                        <a:defRPr sz="900">
                          <a:solidFill>
                            <a:srgbClr val="0D2B55"/>
                          </a:solidFill>
                        </a:defRPr>
                      </a:pPr>
                      <a:r>
                        <a:t>   is expected post-op</a:t>
                      </a:r>
                    </a:p>
                    <a:p>
                      <a:pPr algn="l">
                        <a:defRPr sz="900">
                          <a:solidFill>
                            <a:srgbClr val="0D2B55"/>
                          </a:solidFill>
                        </a:defRPr>
                      </a:pPr>
                      <a:r>
                        <a:t>4. Give prescribed analgesic</a:t>
                      </a:r>
                    </a:p>
                    <a:p>
                      <a:pPr algn="l">
                        <a:defRPr i="1" sz="900">
                          <a:solidFill>
                            <a:srgbClr val="0D2B55"/>
                          </a:solidFill>
                        </a:defRPr>
                      </a:pPr>
                      <a:r>
                        <a:t>   E.g Pentazocine 30mg</a:t>
                      </a:r>
                    </a:p>
                  </a:txBody>
                  <a:tcPr marL="60000" marR="60000" marT="60000" marB="60000" anchor="t" anchorCtr="0" horzOverflow="overflow">
                    <a:lnL>
                      <a:solidFill>
                        <a:srgbClr val="CCDDEE"/>
                      </a:solidFill>
                    </a:lnL>
                    <a:lnR>
                      <a:solidFill>
                        <a:srgbClr val="CCDDEE"/>
                      </a:solidFill>
                    </a:lnR>
                    <a:lnT>
                      <a:solidFill>
                        <a:srgbClr val="3A5A80"/>
                      </a:solidFill>
                    </a:lnT>
                    <a:lnB>
                      <a:solidFill>
                        <a:srgbClr val="CCDD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0D2B55"/>
                          </a:solidFill>
                        </a:rPr>
                        <a:t>1. Baseline for intervention
2. Reduces pressure on
   operation site
3. Reassures; helps patient
   bear the pain
4. Acts on pain receptors
   thereby reducing pain</a:t>
                      </a:r>
                    </a:p>
                  </a:txBody>
                  <a:tcPr marL="60000" marR="60000" marT="60000" marB="60000" anchor="t" anchorCtr="0" horzOverflow="overflow">
                    <a:lnL>
                      <a:solidFill>
                        <a:srgbClr val="CCDDEE"/>
                      </a:solidFill>
                    </a:lnL>
                    <a:lnR>
                      <a:solidFill>
                        <a:srgbClr val="CCDDEE"/>
                      </a:solidFill>
                    </a:lnR>
                    <a:lnT>
                      <a:solidFill>
                        <a:srgbClr val="3A5A80"/>
                      </a:solidFill>
                    </a:lnT>
                    <a:lnB>
                      <a:solidFill>
                        <a:srgbClr val="CCDD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0D2B55"/>
                          </a:solidFill>
                        </a:rPr>
                        <a:t>Patient reported less
pain (3/10) after 40
minutes of nursing
intervention</a:t>
                      </a:r>
                    </a:p>
                  </a:txBody>
                  <a:tcPr marL="60000" marR="60000" marT="60000" marB="60000" anchor="t" anchorCtr="0" horzOverflow="overflow">
                    <a:lnL>
                      <a:solidFill>
                        <a:srgbClr val="CCDDEE"/>
                      </a:solidFill>
                    </a:lnL>
                    <a:lnR>
                      <a:solidFill>
                        <a:srgbClr val="CCDDEE"/>
                      </a:solidFill>
                    </a:lnR>
                    <a:lnT>
                      <a:solidFill>
                        <a:srgbClr val="3A5A80"/>
                      </a:solidFill>
                    </a:lnT>
                    <a:lnB>
                      <a:solidFill>
                        <a:srgbClr val="CCDD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30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0D2B55"/>
                          </a:solidFill>
                        </a:rPr>
                        <a:t>2</a:t>
                      </a:r>
                    </a:p>
                  </a:txBody>
                  <a:tcPr marL="60000" marR="60000" marT="60000" marB="60000" anchor="t" anchorCtr="0" horzOverflow="overflow">
                    <a:lnL>
                      <a:solidFill>
                        <a:srgbClr val="CCDDEE"/>
                      </a:solidFill>
                    </a:lnL>
                    <a:lnR>
                      <a:solidFill>
                        <a:srgbClr val="CCDDEE"/>
                      </a:solidFill>
                    </a:lnR>
                    <a:lnT>
                      <a:solidFill>
                        <a:srgbClr val="CCDDEE"/>
                      </a:solidFill>
                    </a:lnT>
                    <a:lnB>
                      <a:solidFill>
                        <a:srgbClr val="CCDDEE"/>
                      </a:solidFill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0D2B55"/>
                          </a:solidFill>
                        </a:rPr>
                        <a:t>Activity intolerance
related to surgical
procedure evidenced
by weakness to
carry out ADL</a:t>
                      </a:r>
                    </a:p>
                  </a:txBody>
                  <a:tcPr marL="60000" marR="60000" marT="60000" marB="60000" anchor="t" anchorCtr="0" horzOverflow="overflow">
                    <a:lnL>
                      <a:solidFill>
                        <a:srgbClr val="CCDDEE"/>
                      </a:solidFill>
                    </a:lnL>
                    <a:lnR>
                      <a:solidFill>
                        <a:srgbClr val="CCDDEE"/>
                      </a:solidFill>
                    </a:lnR>
                    <a:lnT>
                      <a:solidFill>
                        <a:srgbClr val="CCDDEE"/>
                      </a:solidFill>
                    </a:lnT>
                    <a:lnB>
                      <a:solidFill>
                        <a:srgbClr val="CCDDEE"/>
                      </a:solidFill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0D2B55"/>
                          </a:solidFill>
                        </a:rPr>
                        <a:t>Patient will carry out
ADL with minimal
assistance within
24–48 hrs of
intervention</a:t>
                      </a:r>
                    </a:p>
                  </a:txBody>
                  <a:tcPr marL="60000" marR="60000" marT="60000" marB="60000" anchor="t" anchorCtr="0" horzOverflow="overflow">
                    <a:lnL>
                      <a:solidFill>
                        <a:srgbClr val="CCDDEE"/>
                      </a:solidFill>
                    </a:lnL>
                    <a:lnR>
                      <a:solidFill>
                        <a:srgbClr val="CCDDEE"/>
                      </a:solidFill>
                    </a:lnR>
                    <a:lnT>
                      <a:solidFill>
                        <a:srgbClr val="CCDDEE"/>
                      </a:solidFill>
                    </a:lnT>
                    <a:lnB>
                      <a:solidFill>
                        <a:srgbClr val="CCDDEE"/>
                      </a:solidFill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0D2B55"/>
                          </a:solidFill>
                        </a:rPr>
                        <a:t>1. Assess ability to perform ADL
2. Encourage patient to carry
   out ADL independently
3. Assist with minimal help
4. Allow time — do not rush</a:t>
                      </a:r>
                    </a:p>
                  </a:txBody>
                  <a:tcPr marL="60000" marR="60000" marT="60000" marB="60000" anchor="t" anchorCtr="0" horzOverflow="overflow">
                    <a:lnL>
                      <a:solidFill>
                        <a:srgbClr val="CCDDEE"/>
                      </a:solidFill>
                    </a:lnL>
                    <a:lnR>
                      <a:solidFill>
                        <a:srgbClr val="CCDDEE"/>
                      </a:solidFill>
                    </a:lnR>
                    <a:lnT>
                      <a:solidFill>
                        <a:srgbClr val="CCDDEE"/>
                      </a:solidFill>
                    </a:lnT>
                    <a:lnB>
                      <a:solidFill>
                        <a:srgbClr val="CCDDEE"/>
                      </a:solidFill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0D2B55"/>
                          </a:solidFill>
                        </a:rPr>
                        <a:t>1. Identifies areas needing
   assistance
2. Promotes independence
3. Improves functioning
4. Conserves energy &amp;
   promotes task completion</a:t>
                      </a:r>
                    </a:p>
                  </a:txBody>
                  <a:tcPr marL="60000" marR="60000" marT="60000" marB="60000" anchor="t" anchorCtr="0" horzOverflow="overflow">
                    <a:lnL>
                      <a:solidFill>
                        <a:srgbClr val="CCDDEE"/>
                      </a:solidFill>
                    </a:lnL>
                    <a:lnR>
                      <a:solidFill>
                        <a:srgbClr val="CCDDEE"/>
                      </a:solidFill>
                    </a:lnR>
                    <a:lnT>
                      <a:solidFill>
                        <a:srgbClr val="CCDDEE"/>
                      </a:solidFill>
                    </a:lnT>
                    <a:lnB>
                      <a:solidFill>
                        <a:srgbClr val="CCDDEE"/>
                      </a:solidFill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0D2B55"/>
                          </a:solidFill>
                        </a:rPr>
                        <a:t>Patient carried out ADL
with minimal assistance
after 24 hours of
nursing intervention</a:t>
                      </a:r>
                    </a:p>
                  </a:txBody>
                  <a:tcPr marL="60000" marR="60000" marT="60000" marB="60000" anchor="t" anchorCtr="0" horzOverflow="overflow">
                    <a:lnL>
                      <a:solidFill>
                        <a:srgbClr val="CCDDEE"/>
                      </a:solidFill>
                    </a:lnL>
                    <a:lnR>
                      <a:solidFill>
                        <a:srgbClr val="CCDDEE"/>
                      </a:solidFill>
                    </a:lnR>
                    <a:lnT>
                      <a:solidFill>
                        <a:srgbClr val="CCDDEE"/>
                      </a:solidFill>
                    </a:lnT>
                    <a:lnB>
                      <a:solidFill>
                        <a:srgbClr val="CCDDEE"/>
                      </a:solidFill>
                    </a:lnB>
                    <a:solidFill>
                      <a:srgbClr val="E8F0F8"/>
                    </a:solidFill>
                  </a:tcPr>
                </a:tc>
              </a:tr>
              <a:tr h="130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0D2B55"/>
                          </a:solidFill>
                        </a:rPr>
                        <a:t>3</a:t>
                      </a:r>
                    </a:p>
                  </a:txBody>
                  <a:tcPr marL="60000" marR="60000" marT="60000" marB="60000" anchor="t" anchorCtr="0" horzOverflow="overflow">
                    <a:lnL>
                      <a:solidFill>
                        <a:srgbClr val="CCDDEE"/>
                      </a:solidFill>
                    </a:lnL>
                    <a:lnR>
                      <a:solidFill>
                        <a:srgbClr val="CCDDEE"/>
                      </a:solidFill>
                    </a:lnR>
                    <a:lnT>
                      <a:solidFill>
                        <a:srgbClr val="CCDDEE"/>
                      </a:solidFill>
                    </a:lnT>
                    <a:lnB>
                      <a:solidFill>
                        <a:srgbClr val="CCDD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0D2B55"/>
                          </a:solidFill>
                        </a:rPr>
                        <a:t>Risk for infection
related to invasive
procedure (surgical
wound)</a:t>
                      </a:r>
                    </a:p>
                  </a:txBody>
                  <a:tcPr marL="60000" marR="60000" marT="60000" marB="60000" anchor="t" anchorCtr="0" horzOverflow="overflow">
                    <a:lnL>
                      <a:solidFill>
                        <a:srgbClr val="CCDDEE"/>
                      </a:solidFill>
                    </a:lnL>
                    <a:lnR>
                      <a:solidFill>
                        <a:srgbClr val="CCDDEE"/>
                      </a:solidFill>
                    </a:lnR>
                    <a:lnT>
                      <a:solidFill>
                        <a:srgbClr val="CCDDEE"/>
                      </a:solidFill>
                    </a:lnT>
                    <a:lnB>
                      <a:solidFill>
                        <a:srgbClr val="CCDD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0D2B55"/>
                          </a:solidFill>
                        </a:rPr>
                        <a:t>Patient's surgical site
will be clean &amp; dry
throughout period of
hospitalization</a:t>
                      </a:r>
                    </a:p>
                  </a:txBody>
                  <a:tcPr marL="60000" marR="60000" marT="60000" marB="60000" anchor="t" anchorCtr="0" horzOverflow="overflow">
                    <a:lnL>
                      <a:solidFill>
                        <a:srgbClr val="CCDDEE"/>
                      </a:solidFill>
                    </a:lnL>
                    <a:lnR>
                      <a:solidFill>
                        <a:srgbClr val="CCDDEE"/>
                      </a:solidFill>
                    </a:lnR>
                    <a:lnT>
                      <a:solidFill>
                        <a:srgbClr val="CCDDEE"/>
                      </a:solidFill>
                    </a:lnT>
                    <a:lnB>
                      <a:solidFill>
                        <a:srgbClr val="CCDD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0D2B55"/>
                          </a:solidFill>
                        </a:rPr>
                        <a:t>1. Assess for signs of infection
2. Maintain good hygiene of
   pubic, perineal &amp; wound area
3. Dress wound using strict
   aseptic technique
4. Wash hands before &amp; after
5. Monitor vital signs regularly</a:t>
                      </a:r>
                    </a:p>
                  </a:txBody>
                  <a:tcPr marL="60000" marR="60000" marT="60000" marB="60000" anchor="t" anchorCtr="0" horzOverflow="overflow">
                    <a:lnL>
                      <a:solidFill>
                        <a:srgbClr val="CCDDEE"/>
                      </a:solidFill>
                    </a:lnL>
                    <a:lnR>
                      <a:solidFill>
                        <a:srgbClr val="CCDDEE"/>
                      </a:solidFill>
                    </a:lnR>
                    <a:lnT>
                      <a:solidFill>
                        <a:srgbClr val="CCDDEE"/>
                      </a:solidFill>
                    </a:lnT>
                    <a:lnB>
                      <a:solidFill>
                        <a:srgbClr val="CCDD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0D2B55"/>
                          </a:solidFill>
                        </a:rPr>
                        <a:t>1. Enables prompt intervention
2. Reduces microbial entry
   into the wound
3. Prevents micro-organism
   growth
4. Prevents cross-infection
5. Detects deviations early</a:t>
                      </a:r>
                    </a:p>
                  </a:txBody>
                  <a:tcPr marL="60000" marR="60000" marT="60000" marB="60000" anchor="t" anchorCtr="0" horzOverflow="overflow">
                    <a:lnL>
                      <a:solidFill>
                        <a:srgbClr val="CCDDEE"/>
                      </a:solidFill>
                    </a:lnL>
                    <a:lnR>
                      <a:solidFill>
                        <a:srgbClr val="CCDDEE"/>
                      </a:solidFill>
                    </a:lnR>
                    <a:lnT>
                      <a:solidFill>
                        <a:srgbClr val="CCDDEE"/>
                      </a:solidFill>
                    </a:lnT>
                    <a:lnB>
                      <a:solidFill>
                        <a:srgbClr val="CCDD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0D2B55"/>
                          </a:solidFill>
                        </a:rPr>
                        <a:t>Surgical site remained
clean and dry throughout
the period of
hospitalization</a:t>
                      </a:r>
                    </a:p>
                  </a:txBody>
                  <a:tcPr marL="60000" marR="60000" marT="60000" marB="60000" anchor="t" anchorCtr="0" horzOverflow="overflow">
                    <a:lnL>
                      <a:solidFill>
                        <a:srgbClr val="CCDDEE"/>
                      </a:solidFill>
                    </a:lnL>
                    <a:lnR>
                      <a:solidFill>
                        <a:srgbClr val="CCDDEE"/>
                      </a:solidFill>
                    </a:lnR>
                    <a:lnT>
                      <a:solidFill>
                        <a:srgbClr val="CCDDEE"/>
                      </a:solidFill>
                    </a:lnT>
                    <a:lnB>
                      <a:solidFill>
                        <a:srgbClr val="CCDD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push dir="l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0" name="HDR"/>
          <p:cNvSpPr/>
          <p:nvPr/>
        </p:nvSpPr>
        <p:spPr>
          <a:xfrm>
            <a:off x="0" y="0"/>
            <a:ext cx="9144000" cy="620000"/>
          </a:xfrm>
          <a:prstGeom prst="rect">
            <a:avLst/>
          </a:prstGeom>
          <a:solidFill>
            <a:srgbClr val="0D2B5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1" name="Title"/>
          <p:cNvSpPr txBox="1"/>
          <p:nvPr/>
        </p:nvSpPr>
        <p:spPr>
          <a:xfrm>
            <a:off x="249999" y="185629"/>
            <a:ext cx="8644002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CHAPTER FOUR  —  SUMMARY, CONCLUSION &amp; RECOMMENDATION</a:t>
            </a:r>
          </a:p>
        </p:txBody>
      </p:sp>
      <p:sp>
        <p:nvSpPr>
          <p:cNvPr id="292" name="FTR"/>
          <p:cNvSpPr txBox="1"/>
          <p:nvPr/>
        </p:nvSpPr>
        <p:spPr>
          <a:xfrm>
            <a:off x="249999" y="5011499"/>
            <a:ext cx="86440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8899AA"/>
                </a:solidFill>
              </a:defRPr>
            </a:lvl1pPr>
          </a:lstStyle>
          <a:p>
            <a:pPr/>
            <a:r>
              <a:t>OGAGA RITA EMUOBOSA  |  CONPRN25088</a:t>
            </a:r>
          </a:p>
        </p:txBody>
      </p:sp>
      <p:sp>
        <p:nvSpPr>
          <p:cNvPr id="293" name="ChLabel"/>
          <p:cNvSpPr txBox="1"/>
          <p:nvPr/>
        </p:nvSpPr>
        <p:spPr>
          <a:xfrm>
            <a:off x="249999" y="712866"/>
            <a:ext cx="864400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i="1" sz="1100">
                <a:solidFill>
                  <a:srgbClr val="3A5A80"/>
                </a:solidFill>
              </a:defRPr>
            </a:lvl1pPr>
          </a:lstStyle>
          <a:p>
            <a:pPr/>
            <a:r>
              <a:t>Patient: Mrs M.J.  |  Uterine Fibroid with Menorrhagia  |  Myomectomy Done</a:t>
            </a:r>
          </a:p>
        </p:txBody>
      </p:sp>
      <p:sp>
        <p:nvSpPr>
          <p:cNvPr id="294" name="Div"/>
          <p:cNvSpPr/>
          <p:nvPr/>
        </p:nvSpPr>
        <p:spPr>
          <a:xfrm>
            <a:off x="249999" y="909999"/>
            <a:ext cx="8644002" cy="18001"/>
          </a:xfrm>
          <a:prstGeom prst="rect">
            <a:avLst/>
          </a:prstGeom>
          <a:solidFill>
            <a:srgbClr val="0D2B5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297" name="S410"/>
          <p:cNvGrpSpPr/>
          <p:nvPr/>
        </p:nvGrpSpPr>
        <p:grpSpPr>
          <a:xfrm>
            <a:off x="79999" y="939999"/>
            <a:ext cx="2880001" cy="4080002"/>
            <a:chOff x="0" y="0"/>
            <a:chExt cx="2879999" cy="4080000"/>
          </a:xfrm>
        </p:grpSpPr>
        <p:sp>
          <p:nvSpPr>
            <p:cNvPr id="295" name="Rounded Rectangle"/>
            <p:cNvSpPr/>
            <p:nvPr/>
          </p:nvSpPr>
          <p:spPr>
            <a:xfrm>
              <a:off x="0" y="0"/>
              <a:ext cx="2880000" cy="4080001"/>
            </a:xfrm>
            <a:prstGeom prst="roundRect">
              <a:avLst>
                <a:gd name="adj" fmla="val 20000"/>
              </a:avLst>
            </a:prstGeom>
            <a:solidFill>
              <a:srgbClr val="0D2B55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96" name="📋  SUMMARY…"/>
            <p:cNvSpPr txBox="1"/>
            <p:nvPr/>
          </p:nvSpPr>
          <p:spPr>
            <a:xfrm>
              <a:off x="168705" y="168704"/>
              <a:ext cx="2542590" cy="33789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t">
              <a:spAutoFit/>
            </a:bodyPr>
            <a:lstStyle/>
            <a:p>
              <a:pPr>
                <a:defRPr b="1" sz="1200">
                  <a:solidFill>
                    <a:srgbClr val="FFFFFF"/>
                  </a:solidFill>
                </a:defRPr>
              </a:pPr>
              <a:r>
                <a:t>📋  SUMMARY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This care study focused on Mrs M.J.,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diagnosed with uterine fibroid with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menorrhagia (non-cancerous uterine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growth).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 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Symptoms: abdominal enlargement,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heavy menstrual bleeding, pelvic pain,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weakness, and discomfort.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 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Diagnosis was confirmed via history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taking, physical examination, and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diagnostic investigations.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 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Mrs M.J. received medical &amp; surgical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treatment with adequate nursing care.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Health education was also provided on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hygiene, nutrition, medication adherence,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follow-up care &amp; prevention of relapse.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 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She responded positively and showed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improvement throughout her care.</a:t>
              </a:r>
            </a:p>
          </p:txBody>
        </p:sp>
      </p:grpSp>
      <p:grpSp>
        <p:nvGrpSpPr>
          <p:cNvPr id="300" name="S420"/>
          <p:cNvGrpSpPr/>
          <p:nvPr/>
        </p:nvGrpSpPr>
        <p:grpSpPr>
          <a:xfrm>
            <a:off x="3032000" y="939999"/>
            <a:ext cx="2880000" cy="4080002"/>
            <a:chOff x="0" y="0"/>
            <a:chExt cx="2879999" cy="4080000"/>
          </a:xfrm>
        </p:grpSpPr>
        <p:sp>
          <p:nvSpPr>
            <p:cNvPr id="298" name="Rounded Rectangle"/>
            <p:cNvSpPr/>
            <p:nvPr/>
          </p:nvSpPr>
          <p:spPr>
            <a:xfrm>
              <a:off x="0" y="0"/>
              <a:ext cx="2880000" cy="4080001"/>
            </a:xfrm>
            <a:prstGeom prst="roundRect">
              <a:avLst>
                <a:gd name="adj" fmla="val 20000"/>
              </a:avLst>
            </a:prstGeom>
            <a:solidFill>
              <a:srgbClr val="163A6B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99" name="✅  CONCLUSION…"/>
            <p:cNvSpPr txBox="1"/>
            <p:nvPr/>
          </p:nvSpPr>
          <p:spPr>
            <a:xfrm>
              <a:off x="168705" y="168704"/>
              <a:ext cx="2542590" cy="33789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t">
              <a:spAutoFit/>
            </a:bodyPr>
            <a:lstStyle/>
            <a:p>
              <a:pPr>
                <a:defRPr b="1" sz="1200">
                  <a:solidFill>
                    <a:srgbClr val="FFFFFF"/>
                  </a:solidFill>
                </a:defRPr>
              </a:pPr>
              <a:r>
                <a:t>✅  CONCLUSION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Uterine fibroid is a common benign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tumor affecting women's physical,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emotional, and social well-being if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not properly managed.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 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Early diagnosis and prompt treatment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are essential to prevent complications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and improve quality of life.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 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Mrs M.J. was managed through medical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and surgical interventions with effective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nursing care — covering pain management,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medications, wound care, emotional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support, and health education.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 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Successful management of uterine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fibroid can be achieved through: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• Early detection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• Quality nursing care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• Patient cooperation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• Proper follow-up</a:t>
              </a:r>
            </a:p>
          </p:txBody>
        </p:sp>
      </p:grpSp>
      <p:grpSp>
        <p:nvGrpSpPr>
          <p:cNvPr id="303" name="S430"/>
          <p:cNvGrpSpPr/>
          <p:nvPr/>
        </p:nvGrpSpPr>
        <p:grpSpPr>
          <a:xfrm>
            <a:off x="5983999" y="940000"/>
            <a:ext cx="2880001" cy="4106494"/>
            <a:chOff x="0" y="0"/>
            <a:chExt cx="2879999" cy="4106493"/>
          </a:xfrm>
        </p:grpSpPr>
        <p:sp>
          <p:nvSpPr>
            <p:cNvPr id="301" name="Rounded Rectangle"/>
            <p:cNvSpPr/>
            <p:nvPr/>
          </p:nvSpPr>
          <p:spPr>
            <a:xfrm>
              <a:off x="0" y="0"/>
              <a:ext cx="2880000" cy="4080001"/>
            </a:xfrm>
            <a:prstGeom prst="roundRect">
              <a:avLst>
                <a:gd name="adj" fmla="val 20000"/>
              </a:avLst>
            </a:prstGeom>
            <a:solidFill>
              <a:srgbClr val="1E4D8C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02" name="💡  RECOMMENDATION…"/>
            <p:cNvSpPr txBox="1"/>
            <p:nvPr/>
          </p:nvSpPr>
          <p:spPr>
            <a:xfrm>
              <a:off x="168705" y="168704"/>
              <a:ext cx="2542590" cy="39377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t">
              <a:spAutoFit/>
            </a:bodyPr>
            <a:lstStyle/>
            <a:p>
              <a:pPr>
                <a:defRPr b="1" sz="1200">
                  <a:solidFill>
                    <a:srgbClr val="FFFFFF"/>
                  </a:solidFill>
                </a:defRPr>
              </a:pPr>
              <a:r>
                <a:t>💡  RECOMMENDATION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1. Early Health Seeking Behavior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   Visit clinic promptly on noticing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   symptoms — early treatment improves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   outcomes significantly.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 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2. Regular Medical Check-ups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   Routine gynaecological exams &amp;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   pelvic ultrasound especially for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   high-risk women.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 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3. Health Education &amp; Awareness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   Community programs on fibroid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   causes, risks &amp; treatment options.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 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4. Healthy Lifestyle Promotion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   Maintain healthy weight, balanced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   diet, and regular physical activity.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 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5. Improved Healthcare Access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   Affordable reproductive health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   services and diagnostic tools.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 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6. Psychosocial Support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   Emotional support for women</a:t>
              </a:r>
            </a:p>
            <a:p>
              <a:pPr>
                <a:defRPr sz="900">
                  <a:solidFill>
                    <a:srgbClr val="F0F4FA"/>
                  </a:solidFill>
                </a:defRPr>
              </a:pPr>
              <a:r>
                <a:t>   undergoing surgical management.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push dir="l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5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6" name="Shape 1"/>
          <p:cNvSpPr/>
          <p:nvPr/>
        </p:nvSpPr>
        <p:spPr>
          <a:xfrm>
            <a:off x="0" y="-2"/>
            <a:ext cx="9144000" cy="201172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7" name="Shape 2"/>
          <p:cNvSpPr/>
          <p:nvPr/>
        </p:nvSpPr>
        <p:spPr>
          <a:xfrm>
            <a:off x="0" y="4937759"/>
            <a:ext cx="9144000" cy="201170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8" name="Text 3"/>
          <p:cNvSpPr txBox="1"/>
          <p:nvPr/>
        </p:nvSpPr>
        <p:spPr>
          <a:xfrm>
            <a:off x="457200" y="1129296"/>
            <a:ext cx="8229600" cy="758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0">
                <a:solidFill>
                  <a:srgbClr val="FFFFFF"/>
                </a:solidFill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309" name="Shape 4"/>
          <p:cNvSpPr/>
          <p:nvPr/>
        </p:nvSpPr>
        <p:spPr>
          <a:xfrm>
            <a:off x="2560320" y="2057399"/>
            <a:ext cx="4023360" cy="45723"/>
          </a:xfrm>
          <a:prstGeom prst="rect">
            <a:avLst/>
          </a:prstGeom>
          <a:solidFill>
            <a:srgbClr val="2E6DB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0" name="Text 5"/>
          <p:cNvSpPr txBox="1"/>
          <p:nvPr/>
        </p:nvSpPr>
        <p:spPr>
          <a:xfrm>
            <a:off x="457200" y="2272863"/>
            <a:ext cx="822960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7EA8D4"/>
                </a:solidFill>
              </a:defRPr>
            </a:lvl1pPr>
          </a:lstStyle>
          <a:p>
            <a:pPr/>
            <a:r>
              <a:t>FOR YOUR TIME AND ATTENTION</a:t>
            </a:r>
          </a:p>
        </p:txBody>
      </p:sp>
      <p:sp>
        <p:nvSpPr>
          <p:cNvPr id="311" name="Text 6"/>
          <p:cNvSpPr txBox="1"/>
          <p:nvPr/>
        </p:nvSpPr>
        <p:spPr>
          <a:xfrm>
            <a:off x="457200" y="2847692"/>
            <a:ext cx="8229600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OGAGA RITA EMUOBOSA</a:t>
            </a:r>
          </a:p>
        </p:txBody>
      </p:sp>
      <p:sp>
        <p:nvSpPr>
          <p:cNvPr id="312" name="Text 7"/>
          <p:cNvSpPr txBox="1"/>
          <p:nvPr/>
        </p:nvSpPr>
        <p:spPr>
          <a:xfrm>
            <a:off x="457200" y="3281610"/>
            <a:ext cx="822960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7EA8D4"/>
                </a:solidFill>
              </a:defRPr>
            </a:lvl1pPr>
          </a:lstStyle>
          <a:p>
            <a:pPr/>
            <a:r>
              <a:t>CONPRN25088  |  97TH INTAKE  |  JULY 2026</a:t>
            </a:r>
          </a:p>
        </p:txBody>
      </p:sp>
      <p:sp>
        <p:nvSpPr>
          <p:cNvPr id="313" name="Text 8"/>
          <p:cNvSpPr txBox="1"/>
          <p:nvPr/>
        </p:nvSpPr>
        <p:spPr>
          <a:xfrm>
            <a:off x="457200" y="3678358"/>
            <a:ext cx="8229600" cy="369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300">
                <a:solidFill>
                  <a:srgbClr val="E8EDF4"/>
                </a:solidFill>
              </a:defRPr>
            </a:pPr>
            <a:r>
              <a:t>Department of Nursing Sciences</a:t>
            </a:r>
          </a:p>
          <a:p>
            <a:pPr algn="ctr">
              <a:defRPr sz="1300">
                <a:solidFill>
                  <a:srgbClr val="E8EDF4"/>
                </a:solidFill>
              </a:defRPr>
            </a:pPr>
            <a:r>
              <a:t>College of Nursing Sciences, UBTH, Benin City</a:t>
            </a:r>
          </a:p>
        </p:txBody>
      </p:sp>
      <p:sp>
        <p:nvSpPr>
          <p:cNvPr id="314" name="Text 9"/>
          <p:cNvSpPr txBox="1"/>
          <p:nvPr/>
        </p:nvSpPr>
        <p:spPr>
          <a:xfrm>
            <a:off x="457200" y="4285410"/>
            <a:ext cx="82296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100">
                <a:solidFill>
                  <a:srgbClr val="5588AA"/>
                </a:solidFill>
              </a:defRPr>
            </a:lvl1pPr>
          </a:lstStyle>
          <a:p>
            <a:pPr/>
            <a:r>
              <a:t>Supervisor: Mrs. Romeo L.C  |  HOD: Mrs. Osarenkhoe E.B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push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